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236"/>
        </a:solidFill>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4B2E93">
              <a:alpha val="45000"/>
            </a:srgbClr>
          </a:solidFill>
          <a:ln/>
        </p:spPr>
      </p:sp>
      <p:sp>
        <p:nvSpPr>
          <p:cNvPr id="3" name="Shape 1"/>
          <p:cNvSpPr/>
          <p:nvPr/>
        </p:nvSpPr>
        <p:spPr>
          <a:xfrm>
            <a:off x="-2377440" y="4206240"/>
            <a:ext cx="4754880" cy="4754880"/>
          </a:xfrm>
          <a:prstGeom prst="ellipse">
            <a:avLst/>
          </a:prstGeom>
          <a:solidFill>
            <a:srgbClr val="7B5AC4">
              <a:alpha val="40000"/>
            </a:srgbClr>
          </a:solidFill>
          <a:ln/>
        </p:spPr>
      </p:sp>
      <p:sp>
        <p:nvSpPr>
          <p:cNvPr id="4" name="Text 2"/>
          <p:cNvSpPr/>
          <p:nvPr/>
        </p:nvSpPr>
        <p:spPr>
          <a:xfrm>
            <a:off x="731520" y="1371600"/>
            <a:ext cx="9144000" cy="365760"/>
          </a:xfrm>
          <a:prstGeom prst="rect">
            <a:avLst/>
          </a:prstGeom>
          <a:noFill/>
          <a:ln/>
        </p:spPr>
        <p:txBody>
          <a:bodyPr wrap="square" lIns="0" tIns="0" rIns="0" bIns="0" rtlCol="0" anchor="ctr"/>
          <a:lstStyle/>
          <a:p>
            <a:pPr indent="0" marL="0">
              <a:buNone/>
            </a:pPr>
            <a:r>
              <a:rPr lang="en-US" sz="1300" b="1" spc="200" kern="0" dirty="0">
                <a:solidFill>
                  <a:srgbClr val="00D2A0"/>
                </a:solidFill>
                <a:latin typeface="Calibri" pitchFamily="34" charset="0"/>
                <a:ea typeface="Calibri" pitchFamily="34" charset="-122"/>
                <a:cs typeface="Calibri" pitchFamily="34" charset="-120"/>
              </a:rPr>
              <a:t>ETL (G01) · Universidad Autónoma de Occidente</a:t>
            </a:r>
            <a:endParaRPr lang="en-US" sz="1300" dirty="0"/>
          </a:p>
        </p:txBody>
      </p:sp>
      <p:sp>
        <p:nvSpPr>
          <p:cNvPr id="5" name="Text 3"/>
          <p:cNvSpPr/>
          <p:nvPr/>
        </p:nvSpPr>
        <p:spPr>
          <a:xfrm>
            <a:off x="731520" y="1828800"/>
            <a:ext cx="10515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Retail Sales Dashboard</a:t>
            </a:r>
            <a:endParaRPr lang="en-US" sz="4600" dirty="0"/>
          </a:p>
        </p:txBody>
      </p:sp>
      <p:sp>
        <p:nvSpPr>
          <p:cNvPr id="6" name="Text 4"/>
          <p:cNvSpPr/>
          <p:nvPr/>
        </p:nvSpPr>
        <p:spPr>
          <a:xfrm>
            <a:off x="731520" y="2788920"/>
            <a:ext cx="10058400" cy="548640"/>
          </a:xfrm>
          <a:prstGeom prst="rect">
            <a:avLst/>
          </a:prstGeom>
          <a:noFill/>
          <a:ln/>
        </p:spPr>
        <p:txBody>
          <a:bodyPr wrap="square" lIns="0" tIns="0" rIns="0" bIns="0" rtlCol="0" anchor="ctr"/>
          <a:lstStyle/>
          <a:p>
            <a:pPr indent="0" marL="0">
              <a:buNone/>
            </a:pPr>
            <a:r>
              <a:rPr lang="en-US" sz="2000" dirty="0">
                <a:solidFill>
                  <a:srgbClr val="D8CFF0"/>
                </a:solidFill>
                <a:latin typeface="Calibri" pitchFamily="34" charset="0"/>
                <a:ea typeface="Calibri" pitchFamily="34" charset="-122"/>
                <a:cs typeface="Calibri" pitchFamily="34" charset="-120"/>
              </a:rPr>
              <a:t>Business Requirements Analysis — Lab 1A Pitch</a:t>
            </a:r>
            <a:endParaRPr lang="en-US" sz="2000" dirty="0"/>
          </a:p>
        </p:txBody>
      </p:sp>
      <p:sp>
        <p:nvSpPr>
          <p:cNvPr id="7" name="Shape 5"/>
          <p:cNvSpPr/>
          <p:nvPr/>
        </p:nvSpPr>
        <p:spPr>
          <a:xfrm>
            <a:off x="731520" y="3703320"/>
            <a:ext cx="2743200" cy="0"/>
          </a:xfrm>
          <a:prstGeom prst="line">
            <a:avLst/>
          </a:prstGeom>
          <a:noFill/>
          <a:ln w="25400">
            <a:solidFill>
              <a:srgbClr val="00D2A0"/>
            </a:solidFill>
            <a:prstDash val="solid"/>
          </a:ln>
        </p:spPr>
      </p:sp>
      <p:sp>
        <p:nvSpPr>
          <p:cNvPr id="8" name="Text 6"/>
          <p:cNvSpPr/>
          <p:nvPr/>
        </p:nvSpPr>
        <p:spPr>
          <a:xfrm>
            <a:off x="731520" y="3977640"/>
            <a:ext cx="3657600" cy="320040"/>
          </a:xfrm>
          <a:prstGeom prst="rect">
            <a:avLst/>
          </a:prstGeom>
          <a:noFill/>
          <a:ln/>
        </p:spPr>
        <p:txBody>
          <a:bodyPr wrap="square" lIns="0" tIns="0" rIns="0" bIns="0" rtlCol="0" anchor="ctr"/>
          <a:lstStyle/>
          <a:p>
            <a:pPr indent="0" marL="0">
              <a:buNone/>
            </a:pPr>
            <a:r>
              <a:rPr lang="en-US" sz="1200" b="1" dirty="0">
                <a:solidFill>
                  <a:srgbClr val="A79AC9"/>
                </a:solidFill>
                <a:latin typeface="Calibri" pitchFamily="34" charset="0"/>
                <a:ea typeface="Calibri" pitchFamily="34" charset="-122"/>
                <a:cs typeface="Calibri" pitchFamily="34" charset="-120"/>
              </a:rPr>
              <a:t>Project Team</a:t>
            </a:r>
            <a:endParaRPr lang="en-US" sz="1200" dirty="0"/>
          </a:p>
        </p:txBody>
      </p:sp>
      <p:sp>
        <p:nvSpPr>
          <p:cNvPr id="9" name="Shape 7"/>
          <p:cNvSpPr/>
          <p:nvPr/>
        </p:nvSpPr>
        <p:spPr>
          <a:xfrm>
            <a:off x="731520" y="4389120"/>
            <a:ext cx="109728" cy="109728"/>
          </a:xfrm>
          <a:prstGeom prst="ellipse">
            <a:avLst/>
          </a:prstGeom>
          <a:solidFill>
            <a:srgbClr val="00D2A0"/>
          </a:solidFill>
          <a:ln/>
        </p:spPr>
      </p:sp>
      <p:sp>
        <p:nvSpPr>
          <p:cNvPr id="10" name="Text 8"/>
          <p:cNvSpPr/>
          <p:nvPr/>
        </p:nvSpPr>
        <p:spPr>
          <a:xfrm>
            <a:off x="1005840" y="4343400"/>
            <a:ext cx="6400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Deyton Riascos Ortiz  </a:t>
            </a:r>
            <a:pPr indent="0" marL="0">
              <a:buNone/>
            </a:pPr>
            <a:r>
              <a:rPr lang="en-US" sz="1400" dirty="0">
                <a:solidFill>
                  <a:srgbClr val="B8ACD8"/>
                </a:solidFill>
                <a:latin typeface="Calibri" pitchFamily="34" charset="0"/>
                <a:ea typeface="Calibri" pitchFamily="34" charset="-122"/>
                <a:cs typeface="Calibri" pitchFamily="34" charset="-120"/>
              </a:rPr>
              <a:t>— Project Manager</a:t>
            </a:r>
            <a:endParaRPr lang="en-US" sz="1400" dirty="0"/>
          </a:p>
        </p:txBody>
      </p:sp>
      <p:sp>
        <p:nvSpPr>
          <p:cNvPr id="11" name="Shape 9"/>
          <p:cNvSpPr/>
          <p:nvPr/>
        </p:nvSpPr>
        <p:spPr>
          <a:xfrm>
            <a:off x="731520" y="4846320"/>
            <a:ext cx="109728" cy="109728"/>
          </a:xfrm>
          <a:prstGeom prst="ellipse">
            <a:avLst/>
          </a:prstGeom>
          <a:solidFill>
            <a:srgbClr val="00D2A0"/>
          </a:solidFill>
          <a:ln/>
        </p:spPr>
      </p:sp>
      <p:sp>
        <p:nvSpPr>
          <p:cNvPr id="12" name="Text 10"/>
          <p:cNvSpPr/>
          <p:nvPr/>
        </p:nvSpPr>
        <p:spPr>
          <a:xfrm>
            <a:off x="1005840" y="4800600"/>
            <a:ext cx="6400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Daniel David Garcia Restrepo  </a:t>
            </a:r>
            <a:pPr indent="0" marL="0">
              <a:buNone/>
            </a:pPr>
            <a:r>
              <a:rPr lang="en-US" sz="1400" dirty="0">
                <a:solidFill>
                  <a:srgbClr val="B8ACD8"/>
                </a:solidFill>
                <a:latin typeface="Calibri" pitchFamily="34" charset="0"/>
                <a:ea typeface="Calibri" pitchFamily="34" charset="-122"/>
                <a:cs typeface="Calibri" pitchFamily="34" charset="-120"/>
              </a:rPr>
              <a:t>— Product Owner</a:t>
            </a:r>
            <a:endParaRPr lang="en-US" sz="1400" dirty="0"/>
          </a:p>
        </p:txBody>
      </p:sp>
      <p:sp>
        <p:nvSpPr>
          <p:cNvPr id="13" name="Shape 11"/>
          <p:cNvSpPr/>
          <p:nvPr/>
        </p:nvSpPr>
        <p:spPr>
          <a:xfrm>
            <a:off x="731520" y="5303520"/>
            <a:ext cx="109728" cy="109728"/>
          </a:xfrm>
          <a:prstGeom prst="ellipse">
            <a:avLst/>
          </a:prstGeom>
          <a:solidFill>
            <a:srgbClr val="00D2A0"/>
          </a:solidFill>
          <a:ln/>
        </p:spPr>
      </p:sp>
      <p:sp>
        <p:nvSpPr>
          <p:cNvPr id="14" name="Text 12"/>
          <p:cNvSpPr/>
          <p:nvPr/>
        </p:nvSpPr>
        <p:spPr>
          <a:xfrm>
            <a:off x="1005840" y="5257800"/>
            <a:ext cx="640080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Samuel Izquierdo Bonilla  </a:t>
            </a:r>
            <a:pPr indent="0" marL="0">
              <a:buNone/>
            </a:pPr>
            <a:r>
              <a:rPr lang="en-US" sz="1400" dirty="0">
                <a:solidFill>
                  <a:srgbClr val="B8ACD8"/>
                </a:solidFill>
                <a:latin typeface="Calibri" pitchFamily="34" charset="0"/>
                <a:ea typeface="Calibri" pitchFamily="34" charset="-122"/>
                <a:cs typeface="Calibri" pitchFamily="34" charset="-120"/>
              </a:rPr>
              <a:t>— Development Team</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The Business Problem</a:t>
            </a:r>
            <a:endParaRPr lang="en-US" sz="2600" dirty="0"/>
          </a:p>
        </p:txBody>
      </p:sp>
      <p:sp>
        <p:nvSpPr>
          <p:cNvPr id="5" name="Shape 3"/>
          <p:cNvSpPr/>
          <p:nvPr/>
        </p:nvSpPr>
        <p:spPr>
          <a:xfrm>
            <a:off x="457200" y="1371600"/>
            <a:ext cx="6400800" cy="4754880"/>
          </a:xfrm>
          <a:prstGeom prst="roundRect">
            <a:avLst>
              <a:gd name="adj" fmla="val 2308"/>
            </a:avLst>
          </a:prstGeom>
          <a:solidFill>
            <a:srgbClr val="FFFFFF"/>
          </a:solidFill>
          <a:ln w="12700">
            <a:solidFill>
              <a:srgbClr val="E4DDF3"/>
            </a:solidFill>
            <a:prstDash val="solid"/>
          </a:ln>
          <a:effectLst>
            <a:outerShdw sx="100000" sy="100000" kx="0" ky="0" algn="bl" rotWithShape="0" blurRad="101600" dist="38100" dir="5400000">
              <a:srgbClr val="231942">
                <a:alpha val="12000"/>
              </a:srgbClr>
            </a:outerShdw>
          </a:effectLst>
        </p:spPr>
      </p:sp>
      <p:sp>
        <p:nvSpPr>
          <p:cNvPr id="6" name="Text 4"/>
          <p:cNvSpPr/>
          <p:nvPr/>
        </p:nvSpPr>
        <p:spPr>
          <a:xfrm>
            <a:off x="822960" y="1691640"/>
            <a:ext cx="5669280" cy="365760"/>
          </a:xfrm>
          <a:prstGeom prst="rect">
            <a:avLst/>
          </a:prstGeom>
          <a:noFill/>
          <a:ln/>
        </p:spPr>
        <p:txBody>
          <a:bodyPr wrap="square" lIns="0" tIns="0" rIns="0" bIns="0" rtlCol="0" anchor="ctr"/>
          <a:lstStyle/>
          <a:p>
            <a:pPr indent="0" marL="0">
              <a:buNone/>
            </a:pPr>
            <a:r>
              <a:rPr lang="en-US" sz="1600" b="1" dirty="0">
                <a:solidFill>
                  <a:srgbClr val="4B2E93"/>
                </a:solidFill>
                <a:latin typeface="Cambria" pitchFamily="34" charset="0"/>
                <a:ea typeface="Cambria" pitchFamily="34" charset="-122"/>
                <a:cs typeface="Cambria" pitchFamily="34" charset="-120"/>
              </a:rPr>
              <a:t>What's happening?</a:t>
            </a:r>
            <a:endParaRPr lang="en-US" sz="1600" dirty="0"/>
          </a:p>
        </p:txBody>
      </p:sp>
      <p:sp>
        <p:nvSpPr>
          <p:cNvPr id="7" name="Text 5"/>
          <p:cNvSpPr/>
          <p:nvPr/>
        </p:nvSpPr>
        <p:spPr>
          <a:xfrm>
            <a:off x="822960" y="2103120"/>
            <a:ext cx="5669280" cy="1463040"/>
          </a:xfrm>
          <a:prstGeom prst="rect">
            <a:avLst/>
          </a:prstGeom>
          <a:noFill/>
          <a:ln/>
        </p:spPr>
        <p:txBody>
          <a:bodyPr wrap="square" lIns="0" tIns="0" rIns="0" bIns="0" rtlCol="0" anchor="ctr"/>
          <a:lstStyle/>
          <a:p>
            <a:pPr indent="0" marL="0">
              <a:lnSpc>
                <a:spcPct val="115000"/>
              </a:lnSpc>
              <a:buNone/>
            </a:pPr>
            <a:r>
              <a:rPr lang="en-US" sz="1450" dirty="0">
                <a:solidFill>
                  <a:srgbClr val="231942"/>
                </a:solidFill>
                <a:latin typeface="Calibri" pitchFamily="34" charset="0"/>
                <a:ea typeface="Calibri" pitchFamily="34" charset="-122"/>
                <a:cs typeface="Calibri" pitchFamily="34" charset="-120"/>
              </a:rPr>
              <a:t>The company has sales, inventory, and product data, but it is scattered across spreadsheets and different systems. Managers cannot get a quick, reliable view of store performance to make timely decisions.</a:t>
            </a:r>
            <a:endParaRPr lang="en-US" sz="1450" dirty="0"/>
          </a:p>
        </p:txBody>
      </p:sp>
      <p:sp>
        <p:nvSpPr>
          <p:cNvPr id="8" name="Text 6"/>
          <p:cNvSpPr/>
          <p:nvPr/>
        </p:nvSpPr>
        <p:spPr>
          <a:xfrm>
            <a:off x="822960" y="3657600"/>
            <a:ext cx="5669280" cy="365760"/>
          </a:xfrm>
          <a:prstGeom prst="rect">
            <a:avLst/>
          </a:prstGeom>
          <a:noFill/>
          <a:ln/>
        </p:spPr>
        <p:txBody>
          <a:bodyPr wrap="square" lIns="0" tIns="0" rIns="0" bIns="0" rtlCol="0" anchor="ctr"/>
          <a:lstStyle/>
          <a:p>
            <a:pPr indent="0" marL="0">
              <a:buNone/>
            </a:pPr>
            <a:r>
              <a:rPr lang="en-US" sz="1600" b="1" dirty="0">
                <a:solidFill>
                  <a:srgbClr val="4B2E93"/>
                </a:solidFill>
                <a:latin typeface="Cambria" pitchFamily="34" charset="0"/>
                <a:ea typeface="Cambria" pitchFamily="34" charset="-122"/>
                <a:cs typeface="Cambria" pitchFamily="34" charset="-120"/>
              </a:rPr>
              <a:t>Why does it matter to the organization?</a:t>
            </a:r>
            <a:endParaRPr lang="en-US" sz="1600" dirty="0"/>
          </a:p>
        </p:txBody>
      </p:sp>
      <p:sp>
        <p:nvSpPr>
          <p:cNvPr id="9" name="Text 7"/>
          <p:cNvSpPr/>
          <p:nvPr/>
        </p:nvSpPr>
        <p:spPr>
          <a:xfrm>
            <a:off x="822960" y="4069080"/>
            <a:ext cx="5669280" cy="1828800"/>
          </a:xfrm>
          <a:prstGeom prst="rect">
            <a:avLst/>
          </a:prstGeom>
          <a:noFill/>
          <a:ln/>
        </p:spPr>
        <p:txBody>
          <a:bodyPr wrap="square" lIns="0" tIns="0" rIns="0" bIns="0" rtlCol="0" anchor="ctr"/>
          <a:lstStyle/>
          <a:p>
            <a:pPr marL="342900" indent="-342900">
              <a:spcAft>
                <a:spcPts val="800"/>
              </a:spcAft>
              <a:buSzPct val="100000"/>
              <a:buChar char="▪"/>
            </a:pPr>
            <a:r>
              <a:rPr lang="en-US" sz="1350" dirty="0">
                <a:solidFill>
                  <a:srgbClr val="231942"/>
                </a:solidFill>
                <a:latin typeface="Calibri" pitchFamily="34" charset="0"/>
                <a:ea typeface="Calibri" pitchFamily="34" charset="-122"/>
                <a:cs typeface="Calibri" pitchFamily="34" charset="-120"/>
              </a:rPr>
              <a:t>Reduces time spent searching for information</a:t>
            </a:r>
            <a:endParaRPr lang="en-US" sz="1350" dirty="0"/>
          </a:p>
          <a:p>
            <a:pPr marL="342900" indent="-342900">
              <a:spcAft>
                <a:spcPts val="800"/>
              </a:spcAft>
              <a:buSzPct val="100000"/>
              <a:buChar char="▪"/>
            </a:pPr>
            <a:r>
              <a:rPr lang="en-US" sz="1350" dirty="0">
                <a:solidFill>
                  <a:srgbClr val="231942"/>
                </a:solidFill>
                <a:latin typeface="Calibri" pitchFamily="34" charset="0"/>
                <a:ea typeface="Calibri" pitchFamily="34" charset="-122"/>
                <a:cs typeface="Calibri" pitchFamily="34" charset="-120"/>
              </a:rPr>
              <a:t>Enables data-driven decision-making</a:t>
            </a:r>
            <a:endParaRPr lang="en-US" sz="1350" dirty="0"/>
          </a:p>
          <a:p>
            <a:pPr marL="342900" indent="-342900">
              <a:spcAft>
                <a:spcPts val="800"/>
              </a:spcAft>
              <a:buSzPct val="100000"/>
              <a:buChar char="▪"/>
            </a:pPr>
            <a:r>
              <a:rPr lang="en-US" sz="1350" dirty="0">
                <a:solidFill>
                  <a:srgbClr val="231942"/>
                </a:solidFill>
                <a:latin typeface="Calibri" pitchFamily="34" charset="0"/>
                <a:ea typeface="Calibri" pitchFamily="34" charset="-122"/>
                <a:cs typeface="Calibri" pitchFamily="34" charset="-120"/>
              </a:rPr>
              <a:t>Quickly identifies underperforming products</a:t>
            </a:r>
            <a:endParaRPr lang="en-US" sz="1350" dirty="0"/>
          </a:p>
          <a:p>
            <a:pPr marL="342900" indent="-342900">
              <a:spcAft>
                <a:spcPts val="800"/>
              </a:spcAft>
              <a:buSzPct val="100000"/>
              <a:buChar char="▪"/>
            </a:pPr>
            <a:r>
              <a:rPr lang="en-US" sz="1350" dirty="0">
                <a:solidFill>
                  <a:srgbClr val="231942"/>
                </a:solidFill>
                <a:latin typeface="Calibri" pitchFamily="34" charset="0"/>
                <a:ea typeface="Calibri" pitchFamily="34" charset="-122"/>
                <a:cs typeface="Calibri" pitchFamily="34" charset="-120"/>
              </a:rPr>
              <a:t>Facilitates tracking of goal compliance</a:t>
            </a:r>
            <a:endParaRPr lang="en-US" sz="1350" dirty="0"/>
          </a:p>
        </p:txBody>
      </p:sp>
      <p:sp>
        <p:nvSpPr>
          <p:cNvPr id="10" name="Shape 8"/>
          <p:cNvSpPr/>
          <p:nvPr/>
        </p:nvSpPr>
        <p:spPr>
          <a:xfrm>
            <a:off x="7178040" y="1371600"/>
            <a:ext cx="4553712" cy="4754880"/>
          </a:xfrm>
          <a:prstGeom prst="roundRect">
            <a:avLst>
              <a:gd name="adj" fmla="val 2410"/>
            </a:avLst>
          </a:prstGeom>
          <a:solidFill>
            <a:srgbClr val="4B2E93"/>
          </a:solidFill>
          <a:ln/>
        </p:spPr>
      </p:sp>
      <p:sp>
        <p:nvSpPr>
          <p:cNvPr id="11" name="Text 9"/>
          <p:cNvSpPr/>
          <p:nvPr/>
        </p:nvSpPr>
        <p:spPr>
          <a:xfrm>
            <a:off x="7498080" y="1645920"/>
            <a:ext cx="3931920" cy="36576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Key Stakeholders</a:t>
            </a:r>
            <a:endParaRPr lang="en-US" sz="1600" dirty="0"/>
          </a:p>
        </p:txBody>
      </p:sp>
      <p:sp>
        <p:nvSpPr>
          <p:cNvPr id="12" name="Shape 10"/>
          <p:cNvSpPr/>
          <p:nvPr/>
        </p:nvSpPr>
        <p:spPr>
          <a:xfrm>
            <a:off x="7498080" y="2212848"/>
            <a:ext cx="91440" cy="91440"/>
          </a:xfrm>
          <a:prstGeom prst="ellipse">
            <a:avLst/>
          </a:prstGeom>
          <a:solidFill>
            <a:srgbClr val="00D2A0"/>
          </a:solidFill>
          <a:ln/>
        </p:spPr>
      </p:sp>
      <p:sp>
        <p:nvSpPr>
          <p:cNvPr id="13" name="Text 11"/>
          <p:cNvSpPr/>
          <p:nvPr/>
        </p:nvSpPr>
        <p:spPr>
          <a:xfrm>
            <a:off x="7772400" y="2148840"/>
            <a:ext cx="37947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Regional Managers</a:t>
            </a:r>
            <a:endParaRPr lang="en-US" sz="1400" dirty="0"/>
          </a:p>
        </p:txBody>
      </p:sp>
      <p:sp>
        <p:nvSpPr>
          <p:cNvPr id="14" name="Text 12"/>
          <p:cNvSpPr/>
          <p:nvPr/>
        </p:nvSpPr>
        <p:spPr>
          <a:xfrm>
            <a:off x="7772400" y="2459736"/>
            <a:ext cx="3794760" cy="502920"/>
          </a:xfrm>
          <a:prstGeom prst="rect">
            <a:avLst/>
          </a:prstGeom>
          <a:noFill/>
          <a:ln/>
        </p:spPr>
        <p:txBody>
          <a:bodyPr wrap="square" lIns="0" tIns="0" rIns="0" bIns="0" rtlCol="0" anchor="ctr"/>
          <a:lstStyle/>
          <a:p>
            <a:pPr indent="0" marL="0">
              <a:buNone/>
            </a:pPr>
            <a:r>
              <a:rPr lang="en-US" sz="1200" dirty="0">
                <a:solidFill>
                  <a:srgbClr val="D8CFF0"/>
                </a:solidFill>
                <a:latin typeface="Calibri" pitchFamily="34" charset="0"/>
                <a:ea typeface="Calibri" pitchFamily="34" charset="-122"/>
                <a:cs typeface="Calibri" pitchFamily="34" charset="-120"/>
              </a:rPr>
              <a:t>Monitor the performance of their stores</a:t>
            </a:r>
            <a:endParaRPr lang="en-US" sz="1200" dirty="0"/>
          </a:p>
        </p:txBody>
      </p:sp>
      <p:sp>
        <p:nvSpPr>
          <p:cNvPr id="15" name="Shape 13"/>
          <p:cNvSpPr/>
          <p:nvPr/>
        </p:nvSpPr>
        <p:spPr>
          <a:xfrm>
            <a:off x="7498080" y="3145536"/>
            <a:ext cx="91440" cy="91440"/>
          </a:xfrm>
          <a:prstGeom prst="ellipse">
            <a:avLst/>
          </a:prstGeom>
          <a:solidFill>
            <a:srgbClr val="00D2A0"/>
          </a:solidFill>
          <a:ln/>
        </p:spPr>
      </p:sp>
      <p:sp>
        <p:nvSpPr>
          <p:cNvPr id="16" name="Text 14"/>
          <p:cNvSpPr/>
          <p:nvPr/>
        </p:nvSpPr>
        <p:spPr>
          <a:xfrm>
            <a:off x="7772400" y="3081528"/>
            <a:ext cx="37947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Store Managers</a:t>
            </a:r>
            <a:endParaRPr lang="en-US" sz="1400" dirty="0"/>
          </a:p>
        </p:txBody>
      </p:sp>
      <p:sp>
        <p:nvSpPr>
          <p:cNvPr id="17" name="Text 15"/>
          <p:cNvSpPr/>
          <p:nvPr/>
        </p:nvSpPr>
        <p:spPr>
          <a:xfrm>
            <a:off x="7772400" y="3392424"/>
            <a:ext cx="3794760" cy="502920"/>
          </a:xfrm>
          <a:prstGeom prst="rect">
            <a:avLst/>
          </a:prstGeom>
          <a:noFill/>
          <a:ln/>
        </p:spPr>
        <p:txBody>
          <a:bodyPr wrap="square" lIns="0" tIns="0" rIns="0" bIns="0" rtlCol="0" anchor="ctr"/>
          <a:lstStyle/>
          <a:p>
            <a:pPr indent="0" marL="0">
              <a:buNone/>
            </a:pPr>
            <a:r>
              <a:rPr lang="en-US" sz="1200" dirty="0">
                <a:solidFill>
                  <a:srgbClr val="D8CFF0"/>
                </a:solidFill>
                <a:latin typeface="Calibri" pitchFamily="34" charset="0"/>
                <a:ea typeface="Calibri" pitchFamily="34" charset="-122"/>
                <a:cs typeface="Calibri" pitchFamily="34" charset="-120"/>
              </a:rPr>
              <a:t>Analyze sales and local trends</a:t>
            </a:r>
            <a:endParaRPr lang="en-US" sz="1200" dirty="0"/>
          </a:p>
        </p:txBody>
      </p:sp>
      <p:sp>
        <p:nvSpPr>
          <p:cNvPr id="18" name="Shape 16"/>
          <p:cNvSpPr/>
          <p:nvPr/>
        </p:nvSpPr>
        <p:spPr>
          <a:xfrm>
            <a:off x="7498080" y="4078224"/>
            <a:ext cx="91440" cy="91440"/>
          </a:xfrm>
          <a:prstGeom prst="ellipse">
            <a:avLst/>
          </a:prstGeom>
          <a:solidFill>
            <a:srgbClr val="00D2A0"/>
          </a:solidFill>
          <a:ln/>
        </p:spPr>
      </p:sp>
      <p:sp>
        <p:nvSpPr>
          <p:cNvPr id="19" name="Text 17"/>
          <p:cNvSpPr/>
          <p:nvPr/>
        </p:nvSpPr>
        <p:spPr>
          <a:xfrm>
            <a:off x="7772400" y="4014216"/>
            <a:ext cx="37947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Marketing Team</a:t>
            </a:r>
            <a:endParaRPr lang="en-US" sz="1400" dirty="0"/>
          </a:p>
        </p:txBody>
      </p:sp>
      <p:sp>
        <p:nvSpPr>
          <p:cNvPr id="20" name="Text 18"/>
          <p:cNvSpPr/>
          <p:nvPr/>
        </p:nvSpPr>
        <p:spPr>
          <a:xfrm>
            <a:off x="7772400" y="4325112"/>
            <a:ext cx="3794760" cy="502920"/>
          </a:xfrm>
          <a:prstGeom prst="rect">
            <a:avLst/>
          </a:prstGeom>
          <a:noFill/>
          <a:ln/>
        </p:spPr>
        <p:txBody>
          <a:bodyPr wrap="square" lIns="0" tIns="0" rIns="0" bIns="0" rtlCol="0" anchor="ctr"/>
          <a:lstStyle/>
          <a:p>
            <a:pPr indent="0" marL="0">
              <a:buNone/>
            </a:pPr>
            <a:r>
              <a:rPr lang="en-US" sz="1200" dirty="0">
                <a:solidFill>
                  <a:srgbClr val="D8CFF0"/>
                </a:solidFill>
                <a:latin typeface="Calibri" pitchFamily="34" charset="0"/>
                <a:ea typeface="Calibri" pitchFamily="34" charset="-122"/>
                <a:cs typeface="Calibri" pitchFamily="34" charset="-120"/>
              </a:rPr>
              <a:t>Adjust campaigns based on performance</a:t>
            </a:r>
            <a:endParaRPr lang="en-US" sz="1200" dirty="0"/>
          </a:p>
        </p:txBody>
      </p:sp>
      <p:sp>
        <p:nvSpPr>
          <p:cNvPr id="21" name="Shape 19"/>
          <p:cNvSpPr/>
          <p:nvPr/>
        </p:nvSpPr>
        <p:spPr>
          <a:xfrm>
            <a:off x="7498080" y="5010912"/>
            <a:ext cx="91440" cy="91440"/>
          </a:xfrm>
          <a:prstGeom prst="ellipse">
            <a:avLst/>
          </a:prstGeom>
          <a:solidFill>
            <a:srgbClr val="00D2A0"/>
          </a:solidFill>
          <a:ln/>
        </p:spPr>
      </p:sp>
      <p:sp>
        <p:nvSpPr>
          <p:cNvPr id="22" name="Text 20"/>
          <p:cNvSpPr/>
          <p:nvPr/>
        </p:nvSpPr>
        <p:spPr>
          <a:xfrm>
            <a:off x="7772400" y="4946904"/>
            <a:ext cx="379476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Senior Management</a:t>
            </a:r>
            <a:endParaRPr lang="en-US" sz="1400" dirty="0"/>
          </a:p>
        </p:txBody>
      </p:sp>
      <p:sp>
        <p:nvSpPr>
          <p:cNvPr id="23" name="Text 21"/>
          <p:cNvSpPr/>
          <p:nvPr/>
        </p:nvSpPr>
        <p:spPr>
          <a:xfrm>
            <a:off x="7772400" y="5257800"/>
            <a:ext cx="3794760" cy="502920"/>
          </a:xfrm>
          <a:prstGeom prst="rect">
            <a:avLst/>
          </a:prstGeom>
          <a:noFill/>
          <a:ln/>
        </p:spPr>
        <p:txBody>
          <a:bodyPr wrap="square" lIns="0" tIns="0" rIns="0" bIns="0" rtlCol="0" anchor="ctr"/>
          <a:lstStyle/>
          <a:p>
            <a:pPr indent="0" marL="0">
              <a:buNone/>
            </a:pPr>
            <a:r>
              <a:rPr lang="en-US" sz="1200" dirty="0">
                <a:solidFill>
                  <a:srgbClr val="D8CFF0"/>
                </a:solidFill>
                <a:latin typeface="Calibri" pitchFamily="34" charset="0"/>
                <a:ea typeface="Calibri" pitchFamily="34" charset="-122"/>
                <a:cs typeface="Calibri" pitchFamily="34" charset="-120"/>
              </a:rPr>
              <a:t>Obtain strategic indicators</a:t>
            </a:r>
            <a:endParaRPr lang="en-US" sz="1200" dirty="0"/>
          </a:p>
        </p:txBody>
      </p:sp>
      <p:sp>
        <p:nvSpPr>
          <p:cNvPr id="24" name="Text 22"/>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25" name="Text 23"/>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01 / 12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Decisions &amp; Missing Information</a:t>
            </a:r>
            <a:endParaRPr lang="en-US" sz="2600" dirty="0"/>
          </a:p>
        </p:txBody>
      </p:sp>
      <p:sp>
        <p:nvSpPr>
          <p:cNvPr id="5" name="Text 3"/>
          <p:cNvSpPr/>
          <p:nvPr/>
        </p:nvSpPr>
        <p:spPr>
          <a:xfrm>
            <a:off x="457200" y="1325880"/>
            <a:ext cx="5760720" cy="365760"/>
          </a:xfrm>
          <a:prstGeom prst="rect">
            <a:avLst/>
          </a:prstGeom>
          <a:noFill/>
          <a:ln/>
        </p:spPr>
        <p:txBody>
          <a:bodyPr wrap="square" lIns="0" tIns="0" rIns="0" bIns="0" rtlCol="0" anchor="ctr"/>
          <a:lstStyle/>
          <a:p>
            <a:pPr indent="0" marL="0">
              <a:buNone/>
            </a:pPr>
            <a:r>
              <a:rPr lang="en-US" sz="1500" b="1" dirty="0">
                <a:solidFill>
                  <a:srgbClr val="4B2E93"/>
                </a:solidFill>
                <a:latin typeface="Cambria" pitchFamily="34" charset="0"/>
                <a:ea typeface="Cambria" pitchFamily="34" charset="-122"/>
                <a:cs typeface="Cambria" pitchFamily="34" charset="-120"/>
              </a:rPr>
              <a:t>What decisions could managers make?</a:t>
            </a:r>
            <a:endParaRPr lang="en-US" sz="1500" dirty="0"/>
          </a:p>
        </p:txBody>
      </p:sp>
      <p:sp>
        <p:nvSpPr>
          <p:cNvPr id="6" name="Shape 4"/>
          <p:cNvSpPr/>
          <p:nvPr/>
        </p:nvSpPr>
        <p:spPr>
          <a:xfrm>
            <a:off x="457200" y="1783080"/>
            <a:ext cx="2834640" cy="658368"/>
          </a:xfrm>
          <a:prstGeom prst="roundRect">
            <a:avLst>
              <a:gd name="adj" fmla="val 11111"/>
            </a:avLst>
          </a:prstGeom>
          <a:solidFill>
            <a:srgbClr val="FFFFFF"/>
          </a:solidFill>
          <a:ln w="12700">
            <a:solidFill>
              <a:srgbClr val="E4DDF3"/>
            </a:solidFill>
            <a:prstDash val="solid"/>
          </a:ln>
        </p:spPr>
      </p:sp>
      <p:sp>
        <p:nvSpPr>
          <p:cNvPr id="7" name="Text 5"/>
          <p:cNvSpPr/>
          <p:nvPr/>
        </p:nvSpPr>
        <p:spPr>
          <a:xfrm>
            <a:off x="621792" y="178308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Identify stores with low performance</a:t>
            </a:r>
            <a:endParaRPr lang="en-US" sz="1150" dirty="0"/>
          </a:p>
        </p:txBody>
      </p:sp>
      <p:sp>
        <p:nvSpPr>
          <p:cNvPr id="8" name="Shape 6"/>
          <p:cNvSpPr/>
          <p:nvPr/>
        </p:nvSpPr>
        <p:spPr>
          <a:xfrm>
            <a:off x="3520440" y="1783080"/>
            <a:ext cx="2834640" cy="658368"/>
          </a:xfrm>
          <a:prstGeom prst="roundRect">
            <a:avLst>
              <a:gd name="adj" fmla="val 11111"/>
            </a:avLst>
          </a:prstGeom>
          <a:solidFill>
            <a:srgbClr val="FFFFFF"/>
          </a:solidFill>
          <a:ln w="12700">
            <a:solidFill>
              <a:srgbClr val="E4DDF3"/>
            </a:solidFill>
            <a:prstDash val="solid"/>
          </a:ln>
        </p:spPr>
      </p:sp>
      <p:sp>
        <p:nvSpPr>
          <p:cNvPr id="9" name="Text 7"/>
          <p:cNvSpPr/>
          <p:nvPr/>
        </p:nvSpPr>
        <p:spPr>
          <a:xfrm>
            <a:off x="3685032" y="178308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Detect product categories with declining sales</a:t>
            </a:r>
            <a:endParaRPr lang="en-US" sz="1150" dirty="0"/>
          </a:p>
        </p:txBody>
      </p:sp>
      <p:sp>
        <p:nvSpPr>
          <p:cNvPr id="10" name="Shape 8"/>
          <p:cNvSpPr/>
          <p:nvPr/>
        </p:nvSpPr>
        <p:spPr>
          <a:xfrm>
            <a:off x="457200" y="2560320"/>
            <a:ext cx="2834640" cy="658368"/>
          </a:xfrm>
          <a:prstGeom prst="roundRect">
            <a:avLst>
              <a:gd name="adj" fmla="val 11111"/>
            </a:avLst>
          </a:prstGeom>
          <a:solidFill>
            <a:srgbClr val="FFFFFF"/>
          </a:solidFill>
          <a:ln w="12700">
            <a:solidFill>
              <a:srgbClr val="E4DDF3"/>
            </a:solidFill>
            <a:prstDash val="solid"/>
          </a:ln>
        </p:spPr>
      </p:sp>
      <p:sp>
        <p:nvSpPr>
          <p:cNvPr id="11" name="Text 9"/>
          <p:cNvSpPr/>
          <p:nvPr/>
        </p:nvSpPr>
        <p:spPr>
          <a:xfrm>
            <a:off x="621792" y="256032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Design promotions for specific products</a:t>
            </a:r>
            <a:endParaRPr lang="en-US" sz="1150" dirty="0"/>
          </a:p>
        </p:txBody>
      </p:sp>
      <p:sp>
        <p:nvSpPr>
          <p:cNvPr id="12" name="Shape 10"/>
          <p:cNvSpPr/>
          <p:nvPr/>
        </p:nvSpPr>
        <p:spPr>
          <a:xfrm>
            <a:off x="3520440" y="2560320"/>
            <a:ext cx="2834640" cy="658368"/>
          </a:xfrm>
          <a:prstGeom prst="roundRect">
            <a:avLst>
              <a:gd name="adj" fmla="val 11111"/>
            </a:avLst>
          </a:prstGeom>
          <a:solidFill>
            <a:srgbClr val="FFFFFF"/>
          </a:solidFill>
          <a:ln w="12700">
            <a:solidFill>
              <a:srgbClr val="E4DDF3"/>
            </a:solidFill>
            <a:prstDash val="solid"/>
          </a:ln>
        </p:spPr>
      </p:sp>
      <p:sp>
        <p:nvSpPr>
          <p:cNvPr id="13" name="Text 11"/>
          <p:cNvSpPr/>
          <p:nvPr/>
        </p:nvSpPr>
        <p:spPr>
          <a:xfrm>
            <a:off x="3685032" y="256032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Compare performance across regions</a:t>
            </a:r>
            <a:endParaRPr lang="en-US" sz="1150" dirty="0"/>
          </a:p>
        </p:txBody>
      </p:sp>
      <p:sp>
        <p:nvSpPr>
          <p:cNvPr id="14" name="Shape 12"/>
          <p:cNvSpPr/>
          <p:nvPr/>
        </p:nvSpPr>
        <p:spPr>
          <a:xfrm>
            <a:off x="457200" y="3337560"/>
            <a:ext cx="2834640" cy="658368"/>
          </a:xfrm>
          <a:prstGeom prst="roundRect">
            <a:avLst>
              <a:gd name="adj" fmla="val 11111"/>
            </a:avLst>
          </a:prstGeom>
          <a:solidFill>
            <a:srgbClr val="FFFFFF"/>
          </a:solidFill>
          <a:ln w="12700">
            <a:solidFill>
              <a:srgbClr val="E4DDF3"/>
            </a:solidFill>
            <a:prstDash val="solid"/>
          </a:ln>
        </p:spPr>
      </p:sp>
      <p:sp>
        <p:nvSpPr>
          <p:cNvPr id="15" name="Text 13"/>
          <p:cNvSpPr/>
          <p:nvPr/>
        </p:nvSpPr>
        <p:spPr>
          <a:xfrm>
            <a:off x="621792" y="333756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Evaluate compliance with commercial goals</a:t>
            </a:r>
            <a:endParaRPr lang="en-US" sz="1150" dirty="0"/>
          </a:p>
        </p:txBody>
      </p:sp>
      <p:sp>
        <p:nvSpPr>
          <p:cNvPr id="16" name="Shape 14"/>
          <p:cNvSpPr/>
          <p:nvPr/>
        </p:nvSpPr>
        <p:spPr>
          <a:xfrm>
            <a:off x="3520440" y="3337560"/>
            <a:ext cx="2834640" cy="658368"/>
          </a:xfrm>
          <a:prstGeom prst="roundRect">
            <a:avLst>
              <a:gd name="adj" fmla="val 11111"/>
            </a:avLst>
          </a:prstGeom>
          <a:solidFill>
            <a:srgbClr val="FFFFFF"/>
          </a:solidFill>
          <a:ln w="12700">
            <a:solidFill>
              <a:srgbClr val="E4DDF3"/>
            </a:solidFill>
            <a:prstDash val="solid"/>
          </a:ln>
        </p:spPr>
      </p:sp>
      <p:sp>
        <p:nvSpPr>
          <p:cNvPr id="17" name="Text 15"/>
          <p:cNvSpPr/>
          <p:nvPr/>
        </p:nvSpPr>
        <p:spPr>
          <a:xfrm>
            <a:off x="3685032" y="3337560"/>
            <a:ext cx="2514600" cy="658368"/>
          </a:xfrm>
          <a:prstGeom prst="rect">
            <a:avLst/>
          </a:prstGeom>
          <a:noFill/>
          <a:ln/>
        </p:spPr>
        <p:txBody>
          <a:bodyPr wrap="square" lIns="0" tIns="0" rIns="0" bIns="0" rtlCol="0" anchor="ctr"/>
          <a:lstStyle/>
          <a:p>
            <a:pPr indent="0" marL="0">
              <a:buNone/>
            </a:pPr>
            <a:r>
              <a:rPr lang="en-US" sz="1150" dirty="0">
                <a:solidFill>
                  <a:srgbClr val="231942"/>
                </a:solidFill>
                <a:latin typeface="Calibri" pitchFamily="34" charset="0"/>
                <a:ea typeface="Calibri" pitchFamily="34" charset="-122"/>
                <a:cs typeface="Calibri" pitchFamily="34" charset="-120"/>
              </a:rPr>
              <a:t>Plan inventory based on sales trends</a:t>
            </a:r>
            <a:endParaRPr lang="en-US" sz="1150" dirty="0"/>
          </a:p>
        </p:txBody>
      </p:sp>
      <p:sp>
        <p:nvSpPr>
          <p:cNvPr id="18" name="Shape 16"/>
          <p:cNvSpPr/>
          <p:nvPr/>
        </p:nvSpPr>
        <p:spPr>
          <a:xfrm>
            <a:off x="6537960" y="1325880"/>
            <a:ext cx="5193792" cy="4800600"/>
          </a:xfrm>
          <a:prstGeom prst="roundRect">
            <a:avLst>
              <a:gd name="adj" fmla="val 2286"/>
            </a:avLst>
          </a:prstGeom>
          <a:solidFill>
            <a:srgbClr val="2A1B54"/>
          </a:solidFill>
          <a:ln/>
        </p:spPr>
      </p:sp>
      <p:sp>
        <p:nvSpPr>
          <p:cNvPr id="19" name="Text 17"/>
          <p:cNvSpPr/>
          <p:nvPr/>
        </p:nvSpPr>
        <p:spPr>
          <a:xfrm>
            <a:off x="6858000" y="1572768"/>
            <a:ext cx="457200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Key questions still to resolve</a:t>
            </a:r>
            <a:endParaRPr lang="en-US" sz="1500" dirty="0"/>
          </a:p>
        </p:txBody>
      </p:sp>
      <p:sp>
        <p:nvSpPr>
          <p:cNvPr id="20" name="Text 18"/>
          <p:cNvSpPr/>
          <p:nvPr/>
        </p:nvSpPr>
        <p:spPr>
          <a:xfrm>
            <a:off x="6858000" y="2148840"/>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21" name="Text 19"/>
          <p:cNvSpPr/>
          <p:nvPr/>
        </p:nvSpPr>
        <p:spPr>
          <a:xfrm>
            <a:off x="7315200" y="2130552"/>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What indicators are priorities for management?</a:t>
            </a:r>
            <a:endParaRPr lang="en-US" sz="1200" dirty="0"/>
          </a:p>
        </p:txBody>
      </p:sp>
      <p:sp>
        <p:nvSpPr>
          <p:cNvPr id="22" name="Text 20"/>
          <p:cNvSpPr/>
          <p:nvPr/>
        </p:nvSpPr>
        <p:spPr>
          <a:xfrm>
            <a:off x="6858000" y="2770632"/>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23" name="Text 21"/>
          <p:cNvSpPr/>
          <p:nvPr/>
        </p:nvSpPr>
        <p:spPr>
          <a:xfrm>
            <a:off x="7315200" y="2752344"/>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How often do sales goals change?</a:t>
            </a:r>
            <a:endParaRPr lang="en-US" sz="1200" dirty="0"/>
          </a:p>
        </p:txBody>
      </p:sp>
      <p:sp>
        <p:nvSpPr>
          <p:cNvPr id="24" name="Text 22"/>
          <p:cNvSpPr/>
          <p:nvPr/>
        </p:nvSpPr>
        <p:spPr>
          <a:xfrm>
            <a:off x="6858000" y="3392424"/>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25" name="Text 23"/>
          <p:cNvSpPr/>
          <p:nvPr/>
        </p:nvSpPr>
        <p:spPr>
          <a:xfrm>
            <a:off x="7315200" y="3374136"/>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What access levels will each user have?</a:t>
            </a:r>
            <a:endParaRPr lang="en-US" sz="1200" dirty="0"/>
          </a:p>
        </p:txBody>
      </p:sp>
      <p:sp>
        <p:nvSpPr>
          <p:cNvPr id="26" name="Text 24"/>
          <p:cNvSpPr/>
          <p:nvPr/>
        </p:nvSpPr>
        <p:spPr>
          <a:xfrm>
            <a:off x="6858000" y="4014216"/>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27" name="Text 25"/>
          <p:cNvSpPr/>
          <p:nvPr/>
        </p:nvSpPr>
        <p:spPr>
          <a:xfrm>
            <a:off x="7315200" y="3995928"/>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How many stores and regions exist?</a:t>
            </a:r>
            <a:endParaRPr lang="en-US" sz="1200" dirty="0"/>
          </a:p>
        </p:txBody>
      </p:sp>
      <p:sp>
        <p:nvSpPr>
          <p:cNvPr id="28" name="Text 26"/>
          <p:cNvSpPr/>
          <p:nvPr/>
        </p:nvSpPr>
        <p:spPr>
          <a:xfrm>
            <a:off x="6858000" y="4636008"/>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29" name="Text 27"/>
          <p:cNvSpPr/>
          <p:nvPr/>
        </p:nvSpPr>
        <p:spPr>
          <a:xfrm>
            <a:off x="7315200" y="4617720"/>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What system stores the promotions?</a:t>
            </a:r>
            <a:endParaRPr lang="en-US" sz="1200" dirty="0"/>
          </a:p>
        </p:txBody>
      </p:sp>
      <p:sp>
        <p:nvSpPr>
          <p:cNvPr id="30" name="Text 28"/>
          <p:cNvSpPr/>
          <p:nvPr/>
        </p:nvSpPr>
        <p:spPr>
          <a:xfrm>
            <a:off x="6858000" y="5257800"/>
            <a:ext cx="365760" cy="365760"/>
          </a:xfrm>
          <a:prstGeom prst="rect">
            <a:avLst/>
          </a:prstGeom>
          <a:noFill/>
          <a:ln/>
        </p:spPr>
        <p:txBody>
          <a:bodyPr wrap="square" lIns="0" tIns="0" rIns="0" bIns="0" rtlCol="0" anchor="ctr"/>
          <a:lstStyle/>
          <a:p>
            <a:pPr algn="ctr" indent="0" marL="0">
              <a:buNone/>
            </a:pPr>
            <a:r>
              <a:rPr lang="en-US" sz="1600" b="1" dirty="0">
                <a:solidFill>
                  <a:srgbClr val="00D2A0"/>
                </a:solidFill>
                <a:latin typeface="Cambria" pitchFamily="34" charset="0"/>
                <a:ea typeface="Cambria" pitchFamily="34" charset="-122"/>
                <a:cs typeface="Cambria" pitchFamily="34" charset="-120"/>
              </a:rPr>
              <a:t>?</a:t>
            </a:r>
            <a:endParaRPr lang="en-US" sz="1600" dirty="0"/>
          </a:p>
        </p:txBody>
      </p:sp>
      <p:sp>
        <p:nvSpPr>
          <p:cNvPr id="31" name="Text 29"/>
          <p:cNvSpPr/>
          <p:nvPr/>
        </p:nvSpPr>
        <p:spPr>
          <a:xfrm>
            <a:off x="7315200" y="5239512"/>
            <a:ext cx="4206240" cy="502920"/>
          </a:xfrm>
          <a:prstGeom prst="rect">
            <a:avLst/>
          </a:prstGeom>
          <a:noFill/>
          <a:ln/>
        </p:spPr>
        <p:txBody>
          <a:bodyPr wrap="square" lIns="0" tIns="0" rIns="0" bIns="0" rtlCol="0" anchor="ctr"/>
          <a:lstStyle/>
          <a:p>
            <a:pPr indent="0" marL="0">
              <a:buNone/>
            </a:pPr>
            <a:r>
              <a:rPr lang="en-US" sz="1200" dirty="0">
                <a:solidFill>
                  <a:srgbClr val="E7E1F5"/>
                </a:solidFill>
                <a:latin typeface="Calibri" pitchFamily="34" charset="0"/>
                <a:ea typeface="Calibri" pitchFamily="34" charset="-122"/>
                <a:cs typeface="Calibri" pitchFamily="34" charset="-120"/>
              </a:rPr>
              <a:t>What exactly does a "successful store" mean?</a:t>
            </a:r>
            <a:endParaRPr lang="en-US" sz="1200" dirty="0"/>
          </a:p>
        </p:txBody>
      </p:sp>
      <p:sp>
        <p:nvSpPr>
          <p:cNvPr id="32" name="Text 30"/>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33" name="Text 31"/>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02 / 12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Business Objectives</a:t>
            </a:r>
            <a:endParaRPr lang="en-US" sz="2600" dirty="0"/>
          </a:p>
        </p:txBody>
      </p:sp>
      <p:sp>
        <p:nvSpPr>
          <p:cNvPr id="5" name="Shape 3"/>
          <p:cNvSpPr/>
          <p:nvPr/>
        </p:nvSpPr>
        <p:spPr>
          <a:xfrm>
            <a:off x="457200" y="1463040"/>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6" name="Shape 4"/>
          <p:cNvSpPr/>
          <p:nvPr/>
        </p:nvSpPr>
        <p:spPr>
          <a:xfrm>
            <a:off x="658368" y="1801368"/>
            <a:ext cx="329184" cy="329184"/>
          </a:xfrm>
          <a:prstGeom prst="ellipse">
            <a:avLst/>
          </a:prstGeom>
          <a:solidFill>
            <a:srgbClr val="00D2A0"/>
          </a:solidFill>
          <a:ln/>
        </p:spPr>
      </p:sp>
      <p:sp>
        <p:nvSpPr>
          <p:cNvPr id="7" name="Text 5"/>
          <p:cNvSpPr/>
          <p:nvPr/>
        </p:nvSpPr>
        <p:spPr>
          <a:xfrm>
            <a:off x="658368" y="1801368"/>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1</a:t>
            </a:r>
            <a:endParaRPr lang="en-US" sz="1300" dirty="0"/>
          </a:p>
        </p:txBody>
      </p:sp>
      <p:sp>
        <p:nvSpPr>
          <p:cNvPr id="8" name="Text 6"/>
          <p:cNvSpPr/>
          <p:nvPr/>
        </p:nvSpPr>
        <p:spPr>
          <a:xfrm>
            <a:off x="1143000" y="1536192"/>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Centralize sales information into a single analytical view</a:t>
            </a:r>
            <a:endParaRPr lang="en-US" sz="1250" dirty="0"/>
          </a:p>
        </p:txBody>
      </p:sp>
      <p:sp>
        <p:nvSpPr>
          <p:cNvPr id="9" name="Shape 7"/>
          <p:cNvSpPr/>
          <p:nvPr/>
        </p:nvSpPr>
        <p:spPr>
          <a:xfrm>
            <a:off x="6126480" y="1463040"/>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0" name="Shape 8"/>
          <p:cNvSpPr/>
          <p:nvPr/>
        </p:nvSpPr>
        <p:spPr>
          <a:xfrm>
            <a:off x="6327648" y="1801368"/>
            <a:ext cx="329184" cy="329184"/>
          </a:xfrm>
          <a:prstGeom prst="ellipse">
            <a:avLst/>
          </a:prstGeom>
          <a:solidFill>
            <a:srgbClr val="00D2A0"/>
          </a:solidFill>
          <a:ln/>
        </p:spPr>
      </p:sp>
      <p:sp>
        <p:nvSpPr>
          <p:cNvPr id="11" name="Text 9"/>
          <p:cNvSpPr/>
          <p:nvPr/>
        </p:nvSpPr>
        <p:spPr>
          <a:xfrm>
            <a:off x="6327648" y="1801368"/>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2</a:t>
            </a:r>
            <a:endParaRPr lang="en-US" sz="1300" dirty="0"/>
          </a:p>
        </p:txBody>
      </p:sp>
      <p:sp>
        <p:nvSpPr>
          <p:cNvPr id="12" name="Text 10"/>
          <p:cNvSpPr/>
          <p:nvPr/>
        </p:nvSpPr>
        <p:spPr>
          <a:xfrm>
            <a:off x="6812280" y="1536192"/>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Monitor sales performance by region and store</a:t>
            </a:r>
            <a:endParaRPr lang="en-US" sz="1250" dirty="0"/>
          </a:p>
        </p:txBody>
      </p:sp>
      <p:sp>
        <p:nvSpPr>
          <p:cNvPr id="13" name="Shape 11"/>
          <p:cNvSpPr/>
          <p:nvPr/>
        </p:nvSpPr>
        <p:spPr>
          <a:xfrm>
            <a:off x="457200" y="2633472"/>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4" name="Shape 12"/>
          <p:cNvSpPr/>
          <p:nvPr/>
        </p:nvSpPr>
        <p:spPr>
          <a:xfrm>
            <a:off x="658368" y="2971800"/>
            <a:ext cx="329184" cy="329184"/>
          </a:xfrm>
          <a:prstGeom prst="ellipse">
            <a:avLst/>
          </a:prstGeom>
          <a:solidFill>
            <a:srgbClr val="00D2A0"/>
          </a:solidFill>
          <a:ln/>
        </p:spPr>
      </p:sp>
      <p:sp>
        <p:nvSpPr>
          <p:cNvPr id="15" name="Text 13"/>
          <p:cNvSpPr/>
          <p:nvPr/>
        </p:nvSpPr>
        <p:spPr>
          <a:xfrm>
            <a:off x="658368" y="2971800"/>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3</a:t>
            </a:r>
            <a:endParaRPr lang="en-US" sz="1300" dirty="0"/>
          </a:p>
        </p:txBody>
      </p:sp>
      <p:sp>
        <p:nvSpPr>
          <p:cNvPr id="16" name="Text 14"/>
          <p:cNvSpPr/>
          <p:nvPr/>
        </p:nvSpPr>
        <p:spPr>
          <a:xfrm>
            <a:off x="1143000" y="2706624"/>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Analyze category and product performance</a:t>
            </a:r>
            <a:endParaRPr lang="en-US" sz="1250" dirty="0"/>
          </a:p>
        </p:txBody>
      </p:sp>
      <p:sp>
        <p:nvSpPr>
          <p:cNvPr id="17" name="Shape 15"/>
          <p:cNvSpPr/>
          <p:nvPr/>
        </p:nvSpPr>
        <p:spPr>
          <a:xfrm>
            <a:off x="6126480" y="2633472"/>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8" name="Shape 16"/>
          <p:cNvSpPr/>
          <p:nvPr/>
        </p:nvSpPr>
        <p:spPr>
          <a:xfrm>
            <a:off x="6327648" y="2971800"/>
            <a:ext cx="329184" cy="329184"/>
          </a:xfrm>
          <a:prstGeom prst="ellipse">
            <a:avLst/>
          </a:prstGeom>
          <a:solidFill>
            <a:srgbClr val="00D2A0"/>
          </a:solidFill>
          <a:ln/>
        </p:spPr>
      </p:sp>
      <p:sp>
        <p:nvSpPr>
          <p:cNvPr id="19" name="Text 17"/>
          <p:cNvSpPr/>
          <p:nvPr/>
        </p:nvSpPr>
        <p:spPr>
          <a:xfrm>
            <a:off x="6327648" y="2971800"/>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4</a:t>
            </a:r>
            <a:endParaRPr lang="en-US" sz="1300" dirty="0"/>
          </a:p>
        </p:txBody>
      </p:sp>
      <p:sp>
        <p:nvSpPr>
          <p:cNvPr id="20" name="Text 18"/>
          <p:cNvSpPr/>
          <p:nvPr/>
        </p:nvSpPr>
        <p:spPr>
          <a:xfrm>
            <a:off x="6812280" y="2706624"/>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Evaluate compliance with commercial goals</a:t>
            </a:r>
            <a:endParaRPr lang="en-US" sz="1250" dirty="0"/>
          </a:p>
        </p:txBody>
      </p:sp>
      <p:sp>
        <p:nvSpPr>
          <p:cNvPr id="21" name="Shape 19"/>
          <p:cNvSpPr/>
          <p:nvPr/>
        </p:nvSpPr>
        <p:spPr>
          <a:xfrm>
            <a:off x="457200" y="3803904"/>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22" name="Shape 20"/>
          <p:cNvSpPr/>
          <p:nvPr/>
        </p:nvSpPr>
        <p:spPr>
          <a:xfrm>
            <a:off x="658368" y="4142232"/>
            <a:ext cx="329184" cy="329184"/>
          </a:xfrm>
          <a:prstGeom prst="ellipse">
            <a:avLst/>
          </a:prstGeom>
          <a:solidFill>
            <a:srgbClr val="00D2A0"/>
          </a:solidFill>
          <a:ln/>
        </p:spPr>
      </p:sp>
      <p:sp>
        <p:nvSpPr>
          <p:cNvPr id="23" name="Text 21"/>
          <p:cNvSpPr/>
          <p:nvPr/>
        </p:nvSpPr>
        <p:spPr>
          <a:xfrm>
            <a:off x="658368" y="4142232"/>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5</a:t>
            </a:r>
            <a:endParaRPr lang="en-US" sz="1300" dirty="0"/>
          </a:p>
        </p:txBody>
      </p:sp>
      <p:sp>
        <p:nvSpPr>
          <p:cNvPr id="24" name="Text 22"/>
          <p:cNvSpPr/>
          <p:nvPr/>
        </p:nvSpPr>
        <p:spPr>
          <a:xfrm>
            <a:off x="1143000" y="3877056"/>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Analyze sales trends over time</a:t>
            </a:r>
            <a:endParaRPr lang="en-US" sz="1250" dirty="0"/>
          </a:p>
        </p:txBody>
      </p:sp>
      <p:sp>
        <p:nvSpPr>
          <p:cNvPr id="25" name="Shape 23"/>
          <p:cNvSpPr/>
          <p:nvPr/>
        </p:nvSpPr>
        <p:spPr>
          <a:xfrm>
            <a:off x="6126480" y="3803904"/>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26" name="Shape 24"/>
          <p:cNvSpPr/>
          <p:nvPr/>
        </p:nvSpPr>
        <p:spPr>
          <a:xfrm>
            <a:off x="6327648" y="4142232"/>
            <a:ext cx="329184" cy="329184"/>
          </a:xfrm>
          <a:prstGeom prst="ellipse">
            <a:avLst/>
          </a:prstGeom>
          <a:solidFill>
            <a:srgbClr val="00D2A0"/>
          </a:solidFill>
          <a:ln/>
        </p:spPr>
      </p:sp>
      <p:sp>
        <p:nvSpPr>
          <p:cNvPr id="27" name="Text 25"/>
          <p:cNvSpPr/>
          <p:nvPr/>
        </p:nvSpPr>
        <p:spPr>
          <a:xfrm>
            <a:off x="6327648" y="4142232"/>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6</a:t>
            </a:r>
            <a:endParaRPr lang="en-US" sz="1300" dirty="0"/>
          </a:p>
        </p:txBody>
      </p:sp>
      <p:sp>
        <p:nvSpPr>
          <p:cNvPr id="28" name="Text 26"/>
          <p:cNvSpPr/>
          <p:nvPr/>
        </p:nvSpPr>
        <p:spPr>
          <a:xfrm>
            <a:off x="6812280" y="3877056"/>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Facilitate clear, easy access to information for managers</a:t>
            </a:r>
            <a:endParaRPr lang="en-US" sz="1250" dirty="0"/>
          </a:p>
        </p:txBody>
      </p:sp>
      <p:sp>
        <p:nvSpPr>
          <p:cNvPr id="29" name="Shape 27"/>
          <p:cNvSpPr/>
          <p:nvPr/>
        </p:nvSpPr>
        <p:spPr>
          <a:xfrm>
            <a:off x="457200" y="4974336"/>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30" name="Shape 28"/>
          <p:cNvSpPr/>
          <p:nvPr/>
        </p:nvSpPr>
        <p:spPr>
          <a:xfrm>
            <a:off x="658368" y="5312664"/>
            <a:ext cx="329184" cy="329184"/>
          </a:xfrm>
          <a:prstGeom prst="ellipse">
            <a:avLst/>
          </a:prstGeom>
          <a:solidFill>
            <a:srgbClr val="00D2A0"/>
          </a:solidFill>
          <a:ln/>
        </p:spPr>
      </p:sp>
      <p:sp>
        <p:nvSpPr>
          <p:cNvPr id="31" name="Text 29"/>
          <p:cNvSpPr/>
          <p:nvPr/>
        </p:nvSpPr>
        <p:spPr>
          <a:xfrm>
            <a:off x="658368" y="5312664"/>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7</a:t>
            </a:r>
            <a:endParaRPr lang="en-US" sz="1300" dirty="0"/>
          </a:p>
        </p:txBody>
      </p:sp>
      <p:sp>
        <p:nvSpPr>
          <p:cNvPr id="32" name="Text 30"/>
          <p:cNvSpPr/>
          <p:nvPr/>
        </p:nvSpPr>
        <p:spPr>
          <a:xfrm>
            <a:off x="1143000" y="5047488"/>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Analyze the impact of promotions on sales</a:t>
            </a:r>
            <a:endParaRPr lang="en-US" sz="1250" dirty="0"/>
          </a:p>
        </p:txBody>
      </p:sp>
      <p:sp>
        <p:nvSpPr>
          <p:cNvPr id="33" name="Shape 31"/>
          <p:cNvSpPr/>
          <p:nvPr/>
        </p:nvSpPr>
        <p:spPr>
          <a:xfrm>
            <a:off x="6126480" y="4974336"/>
            <a:ext cx="5440680" cy="1005840"/>
          </a:xfrm>
          <a:prstGeom prst="roundRect">
            <a:avLst>
              <a:gd name="adj" fmla="val 9091"/>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34" name="Shape 32"/>
          <p:cNvSpPr/>
          <p:nvPr/>
        </p:nvSpPr>
        <p:spPr>
          <a:xfrm>
            <a:off x="6327648" y="5312664"/>
            <a:ext cx="329184" cy="329184"/>
          </a:xfrm>
          <a:prstGeom prst="ellipse">
            <a:avLst/>
          </a:prstGeom>
          <a:solidFill>
            <a:srgbClr val="00D2A0"/>
          </a:solidFill>
          <a:ln/>
        </p:spPr>
      </p:sp>
      <p:sp>
        <p:nvSpPr>
          <p:cNvPr id="35" name="Text 33"/>
          <p:cNvSpPr/>
          <p:nvPr/>
        </p:nvSpPr>
        <p:spPr>
          <a:xfrm>
            <a:off x="6327648" y="5312664"/>
            <a:ext cx="329184" cy="329184"/>
          </a:xfrm>
          <a:prstGeom prst="rect">
            <a:avLst/>
          </a:prstGeom>
          <a:noFill/>
          <a:ln/>
        </p:spPr>
        <p:txBody>
          <a:bodyPr wrap="square" lIns="0" tIns="0" rIns="0" bIns="0" rtlCol="0" anchor="ctr"/>
          <a:lstStyle/>
          <a:p>
            <a:pPr algn="ctr" indent="0" marL="0">
              <a:buNone/>
            </a:pPr>
            <a:r>
              <a:rPr lang="en-US" sz="1300" b="1" dirty="0">
                <a:solidFill>
                  <a:srgbClr val="1B1236"/>
                </a:solidFill>
                <a:latin typeface="Cambria" pitchFamily="34" charset="0"/>
                <a:ea typeface="Cambria" pitchFamily="34" charset="-122"/>
                <a:cs typeface="Cambria" pitchFamily="34" charset="-120"/>
              </a:rPr>
              <a:t>8</a:t>
            </a:r>
            <a:endParaRPr lang="en-US" sz="1300" dirty="0"/>
          </a:p>
        </p:txBody>
      </p:sp>
      <p:sp>
        <p:nvSpPr>
          <p:cNvPr id="36" name="Text 34"/>
          <p:cNvSpPr/>
          <p:nvPr/>
        </p:nvSpPr>
        <p:spPr>
          <a:xfrm>
            <a:off x="6812280" y="5047488"/>
            <a:ext cx="4617720" cy="868680"/>
          </a:xfrm>
          <a:prstGeom prst="rect">
            <a:avLst/>
          </a:prstGeom>
          <a:noFill/>
          <a:ln/>
        </p:spPr>
        <p:txBody>
          <a:bodyPr wrap="square" lIns="0" tIns="0" rIns="0" bIns="0" rtlCol="0" anchor="ctr"/>
          <a:lstStyle/>
          <a:p>
            <a:pPr indent="0" marL="0">
              <a:buNone/>
            </a:pPr>
            <a:r>
              <a:rPr lang="en-US" sz="1250" dirty="0">
                <a:solidFill>
                  <a:srgbClr val="231942"/>
                </a:solidFill>
                <a:latin typeface="Calibri" pitchFamily="34" charset="0"/>
                <a:ea typeface="Calibri" pitchFamily="34" charset="-122"/>
                <a:cs typeface="Calibri" pitchFamily="34" charset="-120"/>
              </a:rPr>
              <a:t>Facilitate operational tracking of transactions</a:t>
            </a:r>
            <a:endParaRPr lang="en-US" sz="1250" dirty="0"/>
          </a:p>
        </p:txBody>
      </p:sp>
      <p:sp>
        <p:nvSpPr>
          <p:cNvPr id="37" name="Text 3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38" name="Text 36"/>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03 / 12</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Analytical Questions</a:t>
            </a:r>
            <a:endParaRPr lang="en-US" sz="2600" dirty="0"/>
          </a:p>
        </p:txBody>
      </p:sp>
      <p:sp>
        <p:nvSpPr>
          <p:cNvPr id="5" name="Text 3"/>
          <p:cNvSpPr/>
          <p:nvPr/>
        </p:nvSpPr>
        <p:spPr>
          <a:xfrm>
            <a:off x="457200" y="1234440"/>
            <a:ext cx="10058400" cy="320040"/>
          </a:xfrm>
          <a:prstGeom prst="rect">
            <a:avLst/>
          </a:prstGeom>
          <a:noFill/>
          <a:ln/>
        </p:spPr>
        <p:txBody>
          <a:bodyPr wrap="square" lIns="0" tIns="0" rIns="0" bIns="0" rtlCol="0" anchor="ctr"/>
          <a:lstStyle/>
          <a:p>
            <a:pPr indent="0" marL="0">
              <a:buNone/>
            </a:pPr>
            <a:r>
              <a:rPr lang="en-US" sz="1300" i="1" dirty="0">
                <a:solidFill>
                  <a:srgbClr val="685C82"/>
                </a:solidFill>
                <a:latin typeface="Calibri" pitchFamily="34" charset="0"/>
                <a:ea typeface="Calibri" pitchFamily="34" charset="-122"/>
                <a:cs typeface="Calibri" pitchFamily="34" charset="-120"/>
              </a:rPr>
              <a:t>These questions guide the entire data and dashboard design:</a:t>
            </a:r>
            <a:endParaRPr lang="en-US" sz="1300" dirty="0"/>
          </a:p>
        </p:txBody>
      </p:sp>
      <p:sp>
        <p:nvSpPr>
          <p:cNvPr id="6" name="Shape 4"/>
          <p:cNvSpPr/>
          <p:nvPr/>
        </p:nvSpPr>
        <p:spPr>
          <a:xfrm>
            <a:off x="457200" y="1691640"/>
            <a:ext cx="11274552" cy="411480"/>
          </a:xfrm>
          <a:prstGeom prst="roundRect">
            <a:avLst>
              <a:gd name="adj" fmla="val 13333"/>
            </a:avLst>
          </a:prstGeom>
          <a:solidFill>
            <a:srgbClr val="4B2E93"/>
          </a:solidFill>
          <a:ln/>
        </p:spPr>
      </p:sp>
      <p:sp>
        <p:nvSpPr>
          <p:cNvPr id="7" name="Text 5"/>
          <p:cNvSpPr/>
          <p:nvPr/>
        </p:nvSpPr>
        <p:spPr>
          <a:xfrm>
            <a:off x="640080" y="1691640"/>
            <a:ext cx="64008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Business Question</a:t>
            </a:r>
            <a:endParaRPr lang="en-US" sz="1300" dirty="0"/>
          </a:p>
        </p:txBody>
      </p:sp>
      <p:sp>
        <p:nvSpPr>
          <p:cNvPr id="8" name="Text 6"/>
          <p:cNvSpPr/>
          <p:nvPr/>
        </p:nvSpPr>
        <p:spPr>
          <a:xfrm>
            <a:off x="7132320" y="1691640"/>
            <a:ext cx="457200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Information Required</a:t>
            </a:r>
            <a:endParaRPr lang="en-US" sz="1300" dirty="0"/>
          </a:p>
        </p:txBody>
      </p:sp>
      <p:sp>
        <p:nvSpPr>
          <p:cNvPr id="9" name="Shape 7"/>
          <p:cNvSpPr/>
          <p:nvPr/>
        </p:nvSpPr>
        <p:spPr>
          <a:xfrm>
            <a:off x="457200" y="2103120"/>
            <a:ext cx="11274552" cy="576072"/>
          </a:xfrm>
          <a:prstGeom prst="rect">
            <a:avLst/>
          </a:prstGeom>
          <a:solidFill>
            <a:srgbClr val="FFFFFF"/>
          </a:solidFill>
          <a:ln/>
        </p:spPr>
      </p:sp>
      <p:sp>
        <p:nvSpPr>
          <p:cNvPr id="10" name="Text 8"/>
          <p:cNvSpPr/>
          <p:nvPr/>
        </p:nvSpPr>
        <p:spPr>
          <a:xfrm>
            <a:off x="640080" y="2103120"/>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What is the total sales by day, week, month, and year?</a:t>
            </a:r>
            <a:endParaRPr lang="en-US" sz="1200" dirty="0"/>
          </a:p>
        </p:txBody>
      </p:sp>
      <p:sp>
        <p:nvSpPr>
          <p:cNvPr id="11" name="Text 9"/>
          <p:cNvSpPr/>
          <p:nvPr/>
        </p:nvSpPr>
        <p:spPr>
          <a:xfrm>
            <a:off x="7132320" y="2103120"/>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Sales transactions with date and amount</a:t>
            </a:r>
            <a:endParaRPr lang="en-US" sz="1200" dirty="0"/>
          </a:p>
        </p:txBody>
      </p:sp>
      <p:sp>
        <p:nvSpPr>
          <p:cNvPr id="12" name="Shape 10"/>
          <p:cNvSpPr/>
          <p:nvPr/>
        </p:nvSpPr>
        <p:spPr>
          <a:xfrm>
            <a:off x="457200" y="2679192"/>
            <a:ext cx="11274552" cy="576072"/>
          </a:xfrm>
          <a:prstGeom prst="rect">
            <a:avLst/>
          </a:prstGeom>
          <a:solidFill>
            <a:srgbClr val="EEE9F8"/>
          </a:solidFill>
          <a:ln/>
        </p:spPr>
      </p:sp>
      <p:sp>
        <p:nvSpPr>
          <p:cNvPr id="13" name="Text 11"/>
          <p:cNvSpPr/>
          <p:nvPr/>
        </p:nvSpPr>
        <p:spPr>
          <a:xfrm>
            <a:off x="640080" y="2679192"/>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Which categories generate the highest and lowest revenue?</a:t>
            </a:r>
            <a:endParaRPr lang="en-US" sz="1200" dirty="0"/>
          </a:p>
        </p:txBody>
      </p:sp>
      <p:sp>
        <p:nvSpPr>
          <p:cNvPr id="14" name="Text 12"/>
          <p:cNvSpPr/>
          <p:nvPr/>
        </p:nvSpPr>
        <p:spPr>
          <a:xfrm>
            <a:off x="7132320" y="2679192"/>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Sales grouped by product category</a:t>
            </a:r>
            <a:endParaRPr lang="en-US" sz="1200" dirty="0"/>
          </a:p>
        </p:txBody>
      </p:sp>
      <p:sp>
        <p:nvSpPr>
          <p:cNvPr id="15" name="Shape 13"/>
          <p:cNvSpPr/>
          <p:nvPr/>
        </p:nvSpPr>
        <p:spPr>
          <a:xfrm>
            <a:off x="457200" y="3255264"/>
            <a:ext cx="11274552" cy="576072"/>
          </a:xfrm>
          <a:prstGeom prst="rect">
            <a:avLst/>
          </a:prstGeom>
          <a:solidFill>
            <a:srgbClr val="FFFFFF"/>
          </a:solidFill>
          <a:ln/>
        </p:spPr>
      </p:sp>
      <p:sp>
        <p:nvSpPr>
          <p:cNvPr id="16" name="Text 14"/>
          <p:cNvSpPr/>
          <p:nvPr/>
        </p:nvSpPr>
        <p:spPr>
          <a:xfrm>
            <a:off x="640080" y="3255264"/>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Which stores have the best and worst performance?</a:t>
            </a:r>
            <a:endParaRPr lang="en-US" sz="1200" dirty="0"/>
          </a:p>
        </p:txBody>
      </p:sp>
      <p:sp>
        <p:nvSpPr>
          <p:cNvPr id="17" name="Text 15"/>
          <p:cNvSpPr/>
          <p:nvPr/>
        </p:nvSpPr>
        <p:spPr>
          <a:xfrm>
            <a:off x="7132320" y="3255264"/>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Total sales by store</a:t>
            </a:r>
            <a:endParaRPr lang="en-US" sz="1200" dirty="0"/>
          </a:p>
        </p:txBody>
      </p:sp>
      <p:sp>
        <p:nvSpPr>
          <p:cNvPr id="18" name="Shape 16"/>
          <p:cNvSpPr/>
          <p:nvPr/>
        </p:nvSpPr>
        <p:spPr>
          <a:xfrm>
            <a:off x="457200" y="3831336"/>
            <a:ext cx="11274552" cy="576072"/>
          </a:xfrm>
          <a:prstGeom prst="rect">
            <a:avLst/>
          </a:prstGeom>
          <a:solidFill>
            <a:srgbClr val="EEE9F8"/>
          </a:solidFill>
          <a:ln/>
        </p:spPr>
      </p:sp>
      <p:sp>
        <p:nvSpPr>
          <p:cNvPr id="19" name="Text 17"/>
          <p:cNvSpPr/>
          <p:nvPr/>
        </p:nvSpPr>
        <p:spPr>
          <a:xfrm>
            <a:off x="640080" y="3831336"/>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How do sales vary across regions?</a:t>
            </a:r>
            <a:endParaRPr lang="en-US" sz="1200" dirty="0"/>
          </a:p>
        </p:txBody>
      </p:sp>
      <p:sp>
        <p:nvSpPr>
          <p:cNvPr id="20" name="Text 18"/>
          <p:cNvSpPr/>
          <p:nvPr/>
        </p:nvSpPr>
        <p:spPr>
          <a:xfrm>
            <a:off x="7132320" y="3831336"/>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Sales grouped by region</a:t>
            </a:r>
            <a:endParaRPr lang="en-US" sz="1200" dirty="0"/>
          </a:p>
        </p:txBody>
      </p:sp>
      <p:sp>
        <p:nvSpPr>
          <p:cNvPr id="21" name="Shape 19"/>
          <p:cNvSpPr/>
          <p:nvPr/>
        </p:nvSpPr>
        <p:spPr>
          <a:xfrm>
            <a:off x="457200" y="4407408"/>
            <a:ext cx="11274552" cy="576072"/>
          </a:xfrm>
          <a:prstGeom prst="rect">
            <a:avLst/>
          </a:prstGeom>
          <a:solidFill>
            <a:srgbClr val="FFFFFF"/>
          </a:solidFill>
          <a:ln/>
        </p:spPr>
      </p:sp>
      <p:sp>
        <p:nvSpPr>
          <p:cNvPr id="22" name="Text 20"/>
          <p:cNvSpPr/>
          <p:nvPr/>
        </p:nvSpPr>
        <p:spPr>
          <a:xfrm>
            <a:off x="640080" y="4407408"/>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Which stores meet or fail to meet their commercial goals?</a:t>
            </a:r>
            <a:endParaRPr lang="en-US" sz="1200" dirty="0"/>
          </a:p>
        </p:txBody>
      </p:sp>
      <p:sp>
        <p:nvSpPr>
          <p:cNvPr id="23" name="Text 21"/>
          <p:cNvSpPr/>
          <p:nvPr/>
        </p:nvSpPr>
        <p:spPr>
          <a:xfrm>
            <a:off x="7132320" y="4407408"/>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Actual sales and goals for each store</a:t>
            </a:r>
            <a:endParaRPr lang="en-US" sz="1200" dirty="0"/>
          </a:p>
        </p:txBody>
      </p:sp>
      <p:sp>
        <p:nvSpPr>
          <p:cNvPr id="24" name="Shape 22"/>
          <p:cNvSpPr/>
          <p:nvPr/>
        </p:nvSpPr>
        <p:spPr>
          <a:xfrm>
            <a:off x="457200" y="4983480"/>
            <a:ext cx="11274552" cy="576072"/>
          </a:xfrm>
          <a:prstGeom prst="rect">
            <a:avLst/>
          </a:prstGeom>
          <a:solidFill>
            <a:srgbClr val="EEE9F8"/>
          </a:solidFill>
          <a:ln/>
        </p:spPr>
      </p:sp>
      <p:sp>
        <p:nvSpPr>
          <p:cNvPr id="25" name="Text 23"/>
          <p:cNvSpPr/>
          <p:nvPr/>
        </p:nvSpPr>
        <p:spPr>
          <a:xfrm>
            <a:off x="640080" y="4983480"/>
            <a:ext cx="6400800" cy="576072"/>
          </a:xfrm>
          <a:prstGeom prst="rect">
            <a:avLst/>
          </a:prstGeom>
          <a:noFill/>
          <a:ln/>
        </p:spPr>
        <p:txBody>
          <a:bodyPr wrap="square" lIns="0" tIns="0" rIns="0" bIns="0" rtlCol="0" anchor="ctr"/>
          <a:lstStyle/>
          <a:p>
            <a:pPr indent="0" marL="0">
              <a:buNone/>
            </a:pPr>
            <a:r>
              <a:rPr lang="en-US" sz="1200" dirty="0">
                <a:solidFill>
                  <a:srgbClr val="231942"/>
                </a:solidFill>
                <a:latin typeface="Calibri" pitchFamily="34" charset="0"/>
                <a:ea typeface="Calibri" pitchFamily="34" charset="-122"/>
                <a:cs typeface="Calibri" pitchFamily="34" charset="-120"/>
              </a:rPr>
              <a:t>What impact do promotions have on sales?</a:t>
            </a:r>
            <a:endParaRPr lang="en-US" sz="1200" dirty="0"/>
          </a:p>
        </p:txBody>
      </p:sp>
      <p:sp>
        <p:nvSpPr>
          <p:cNvPr id="26" name="Text 24"/>
          <p:cNvSpPr/>
          <p:nvPr/>
        </p:nvSpPr>
        <p:spPr>
          <a:xfrm>
            <a:off x="7132320" y="4983480"/>
            <a:ext cx="4572000" cy="576072"/>
          </a:xfrm>
          <a:prstGeom prst="rect">
            <a:avLst/>
          </a:prstGeom>
          <a:noFill/>
          <a:ln/>
        </p:spPr>
        <p:txBody>
          <a:bodyPr wrap="square" lIns="0" tIns="0" rIns="0" bIns="0" rtlCol="0" anchor="ctr"/>
          <a:lstStyle/>
          <a:p>
            <a:pPr indent="0" marL="0">
              <a:buNone/>
            </a:pPr>
            <a:r>
              <a:rPr lang="en-US" sz="1200" i="1" dirty="0">
                <a:solidFill>
                  <a:srgbClr val="685C82"/>
                </a:solidFill>
                <a:latin typeface="Calibri" pitchFamily="34" charset="0"/>
                <a:ea typeface="Calibri" pitchFamily="34" charset="-122"/>
                <a:cs typeface="Calibri" pitchFamily="34" charset="-120"/>
              </a:rPr>
              <a:t>Promotion information related to sales</a:t>
            </a:r>
            <a:endParaRPr lang="en-US" sz="1200" dirty="0"/>
          </a:p>
        </p:txBody>
      </p:sp>
      <p:sp>
        <p:nvSpPr>
          <p:cNvPr id="27" name="Text 2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28" name="Text 26"/>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04 / 12</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Functional &amp; Non-Functional Requirements</a:t>
            </a:r>
            <a:endParaRPr lang="en-US" sz="2600" dirty="0"/>
          </a:p>
        </p:txBody>
      </p:sp>
      <p:sp>
        <p:nvSpPr>
          <p:cNvPr id="5" name="Shape 3"/>
          <p:cNvSpPr/>
          <p:nvPr/>
        </p:nvSpPr>
        <p:spPr>
          <a:xfrm>
            <a:off x="457200" y="1325880"/>
            <a:ext cx="5532120" cy="4846320"/>
          </a:xfrm>
          <a:prstGeom prst="roundRect">
            <a:avLst>
              <a:gd name="adj" fmla="val 2264"/>
            </a:avLst>
          </a:prstGeom>
          <a:solidFill>
            <a:srgbClr val="FFFFFF"/>
          </a:solidFill>
          <a:ln w="12700">
            <a:solidFill>
              <a:srgbClr val="E4DDF3"/>
            </a:solidFill>
            <a:prstDash val="solid"/>
          </a:ln>
        </p:spPr>
      </p:sp>
      <p:sp>
        <p:nvSpPr>
          <p:cNvPr id="6" name="Shape 4"/>
          <p:cNvSpPr/>
          <p:nvPr/>
        </p:nvSpPr>
        <p:spPr>
          <a:xfrm>
            <a:off x="777240" y="1554480"/>
            <a:ext cx="2103120" cy="320040"/>
          </a:xfrm>
          <a:prstGeom prst="roundRect">
            <a:avLst>
              <a:gd name="adj" fmla="val 48571"/>
            </a:avLst>
          </a:prstGeom>
          <a:solidFill>
            <a:srgbClr val="00D2A0"/>
          </a:solidFill>
          <a:ln w="12700">
            <a:solidFill>
              <a:srgbClr val="00D2A0"/>
            </a:solidFill>
            <a:prstDash val="solid"/>
          </a:ln>
        </p:spPr>
      </p:sp>
      <p:sp>
        <p:nvSpPr>
          <p:cNvPr id="7" name="Text 5"/>
          <p:cNvSpPr/>
          <p:nvPr/>
        </p:nvSpPr>
        <p:spPr>
          <a:xfrm>
            <a:off x="777240" y="1554480"/>
            <a:ext cx="2103120" cy="320040"/>
          </a:xfrm>
          <a:prstGeom prst="rect">
            <a:avLst/>
          </a:prstGeom>
          <a:noFill/>
          <a:ln/>
        </p:spPr>
        <p:txBody>
          <a:bodyPr wrap="square" lIns="0" tIns="0" rIns="0" bIns="0" rtlCol="0" anchor="ctr"/>
          <a:lstStyle/>
          <a:p>
            <a:pPr algn="ctr" indent="0" marL="0">
              <a:buNone/>
            </a:pPr>
            <a:r>
              <a:rPr lang="en-US" sz="1100" b="1" dirty="0">
                <a:solidFill>
                  <a:srgbClr val="1B1236"/>
                </a:solidFill>
                <a:latin typeface="Calibri" pitchFamily="34" charset="0"/>
                <a:ea typeface="Calibri" pitchFamily="34" charset="-122"/>
                <a:cs typeface="Calibri" pitchFamily="34" charset="-120"/>
              </a:rPr>
              <a:t>FUNCTIONAL</a:t>
            </a:r>
            <a:endParaRPr lang="en-US" sz="1100" dirty="0"/>
          </a:p>
        </p:txBody>
      </p:sp>
      <p:sp>
        <p:nvSpPr>
          <p:cNvPr id="8" name="Text 6"/>
          <p:cNvSpPr/>
          <p:nvPr/>
        </p:nvSpPr>
        <p:spPr>
          <a:xfrm>
            <a:off x="777240" y="2057400"/>
            <a:ext cx="4937760" cy="3977640"/>
          </a:xfrm>
          <a:prstGeom prst="rect">
            <a:avLst/>
          </a:prstGeom>
          <a:noFill/>
          <a:ln/>
        </p:spPr>
        <p:txBody>
          <a:bodyPr wrap="square" lIns="0" tIns="0" rIns="0" bIns="0" rtlCol="0" anchor="ctr"/>
          <a:lstStyle/>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Display total sales by day, week, month, and year</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Visualize sales by region and by store</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Display category and product performance</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Filter by region, store, and time period</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Display historical sales trends</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Display goal compliance by store</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Integrate promotion information with sales</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Allow report downloads</a:t>
            </a:r>
            <a:endParaRPr lang="en-US" sz="1200" dirty="0"/>
          </a:p>
        </p:txBody>
      </p:sp>
      <p:sp>
        <p:nvSpPr>
          <p:cNvPr id="9" name="Shape 7"/>
          <p:cNvSpPr/>
          <p:nvPr/>
        </p:nvSpPr>
        <p:spPr>
          <a:xfrm>
            <a:off x="6199632" y="1325880"/>
            <a:ext cx="5532120" cy="4846320"/>
          </a:xfrm>
          <a:prstGeom prst="roundRect">
            <a:avLst>
              <a:gd name="adj" fmla="val 2264"/>
            </a:avLst>
          </a:prstGeom>
          <a:solidFill>
            <a:srgbClr val="FFFFFF"/>
          </a:solidFill>
          <a:ln w="12700">
            <a:solidFill>
              <a:srgbClr val="E4DDF3"/>
            </a:solidFill>
            <a:prstDash val="solid"/>
          </a:ln>
        </p:spPr>
      </p:sp>
      <p:sp>
        <p:nvSpPr>
          <p:cNvPr id="10" name="Shape 8"/>
          <p:cNvSpPr/>
          <p:nvPr/>
        </p:nvSpPr>
        <p:spPr>
          <a:xfrm>
            <a:off x="6519672" y="1554480"/>
            <a:ext cx="2468880" cy="320040"/>
          </a:xfrm>
          <a:prstGeom prst="roundRect">
            <a:avLst>
              <a:gd name="adj" fmla="val 48571"/>
            </a:avLst>
          </a:prstGeom>
          <a:solidFill>
            <a:srgbClr val="4B2E93"/>
          </a:solidFill>
          <a:ln w="12700">
            <a:solidFill>
              <a:srgbClr val="4B2E93"/>
            </a:solidFill>
            <a:prstDash val="solid"/>
          </a:ln>
        </p:spPr>
      </p:sp>
      <p:sp>
        <p:nvSpPr>
          <p:cNvPr id="11" name="Text 9"/>
          <p:cNvSpPr/>
          <p:nvPr/>
        </p:nvSpPr>
        <p:spPr>
          <a:xfrm>
            <a:off x="6519672" y="1554480"/>
            <a:ext cx="246888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NON-FUNCTIONAL</a:t>
            </a:r>
            <a:endParaRPr lang="en-US" sz="1100" dirty="0"/>
          </a:p>
        </p:txBody>
      </p:sp>
      <p:sp>
        <p:nvSpPr>
          <p:cNvPr id="12" name="Text 10"/>
          <p:cNvSpPr/>
          <p:nvPr/>
        </p:nvSpPr>
        <p:spPr>
          <a:xfrm>
            <a:off x="6519672" y="2057400"/>
            <a:ext cx="4937760" cy="3977640"/>
          </a:xfrm>
          <a:prstGeom prst="rect">
            <a:avLst/>
          </a:prstGeom>
          <a:noFill/>
          <a:ln/>
        </p:spPr>
        <p:txBody>
          <a:bodyPr wrap="square" lIns="0" tIns="0" rIns="0" bIns="0" rtlCol="0" anchor="ctr"/>
          <a:lstStyle/>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The dashboard updates information daily</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The platform is easy to use and intuitive</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Only authorized users can access the information</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Indicator loading time under 5 seconds</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Availability during business hours</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Compatible with mobile devices</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Scalable to more stores and data volume</a:t>
            </a:r>
            <a:endParaRPr lang="en-US" sz="1200" dirty="0"/>
          </a:p>
          <a:p>
            <a:pPr marL="177800" indent="-177800">
              <a:spcAft>
                <a:spcPts val="900"/>
              </a:spcAft>
              <a:buSzPct val="100000"/>
              <a:buChar char="▪"/>
            </a:pPr>
            <a:r>
              <a:rPr lang="en-US" sz="1200" dirty="0">
                <a:solidFill>
                  <a:srgbClr val="231942"/>
                </a:solidFill>
                <a:latin typeface="Calibri" pitchFamily="34" charset="0"/>
                <a:ea typeface="Calibri" pitchFamily="34" charset="-122"/>
                <a:cs typeface="Calibri" pitchFamily="34" charset="-120"/>
              </a:rPr>
              <a:t>Consistent and reliable information</a:t>
            </a:r>
            <a:endParaRPr lang="en-US" sz="1200" dirty="0"/>
          </a:p>
        </p:txBody>
      </p:sp>
      <p:sp>
        <p:nvSpPr>
          <p:cNvPr id="13" name="Text 11"/>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14" name="Text 12"/>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05 / 12</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Data Requirements &amp; Sources</a:t>
            </a:r>
            <a:endParaRPr lang="en-US" sz="2600" dirty="0"/>
          </a:p>
        </p:txBody>
      </p:sp>
      <p:sp>
        <p:nvSpPr>
          <p:cNvPr id="5" name="Shape 3"/>
          <p:cNvSpPr/>
          <p:nvPr/>
        </p:nvSpPr>
        <p:spPr>
          <a:xfrm>
            <a:off x="457200" y="1371600"/>
            <a:ext cx="11274552" cy="411480"/>
          </a:xfrm>
          <a:prstGeom prst="roundRect">
            <a:avLst>
              <a:gd name="adj" fmla="val 13333"/>
            </a:avLst>
          </a:prstGeom>
          <a:solidFill>
            <a:srgbClr val="4B2E93"/>
          </a:solidFill>
          <a:ln/>
        </p:spPr>
      </p:sp>
      <p:sp>
        <p:nvSpPr>
          <p:cNvPr id="6" name="Text 4"/>
          <p:cNvSpPr/>
          <p:nvPr/>
        </p:nvSpPr>
        <p:spPr>
          <a:xfrm>
            <a:off x="640080" y="1371600"/>
            <a:ext cx="329184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Information Needed</a:t>
            </a:r>
            <a:endParaRPr lang="en-US" sz="1250" dirty="0"/>
          </a:p>
        </p:txBody>
      </p:sp>
      <p:sp>
        <p:nvSpPr>
          <p:cNvPr id="7" name="Text 5"/>
          <p:cNvSpPr/>
          <p:nvPr/>
        </p:nvSpPr>
        <p:spPr>
          <a:xfrm>
            <a:off x="3977640" y="1371600"/>
            <a:ext cx="356616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Data Required</a:t>
            </a:r>
            <a:endParaRPr lang="en-US" sz="1250" dirty="0"/>
          </a:p>
        </p:txBody>
      </p:sp>
      <p:sp>
        <p:nvSpPr>
          <p:cNvPr id="8" name="Text 6"/>
          <p:cNvSpPr/>
          <p:nvPr/>
        </p:nvSpPr>
        <p:spPr>
          <a:xfrm>
            <a:off x="7680960" y="1371600"/>
            <a:ext cx="3931920" cy="411480"/>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Possible Source</a:t>
            </a:r>
            <a:endParaRPr lang="en-US" sz="1250" dirty="0"/>
          </a:p>
        </p:txBody>
      </p:sp>
      <p:sp>
        <p:nvSpPr>
          <p:cNvPr id="9" name="Shape 7"/>
          <p:cNvSpPr/>
          <p:nvPr/>
        </p:nvSpPr>
        <p:spPr>
          <a:xfrm>
            <a:off x="457200" y="1783080"/>
            <a:ext cx="11274552" cy="498348"/>
          </a:xfrm>
          <a:prstGeom prst="rect">
            <a:avLst/>
          </a:prstGeom>
          <a:solidFill>
            <a:srgbClr val="FFFFFF"/>
          </a:solidFill>
          <a:ln/>
        </p:spPr>
      </p:sp>
      <p:sp>
        <p:nvSpPr>
          <p:cNvPr id="10" name="Text 8"/>
          <p:cNvSpPr/>
          <p:nvPr/>
        </p:nvSpPr>
        <p:spPr>
          <a:xfrm>
            <a:off x="640080" y="1783080"/>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Monthly sales</a:t>
            </a:r>
            <a:endParaRPr lang="en-US" sz="1150" dirty="0"/>
          </a:p>
        </p:txBody>
      </p:sp>
      <p:sp>
        <p:nvSpPr>
          <p:cNvPr id="11" name="Text 9"/>
          <p:cNvSpPr/>
          <p:nvPr/>
        </p:nvSpPr>
        <p:spPr>
          <a:xfrm>
            <a:off x="3977640" y="1783080"/>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Sales transactions</a:t>
            </a:r>
            <a:endParaRPr lang="en-US" sz="1100" dirty="0"/>
          </a:p>
        </p:txBody>
      </p:sp>
      <p:sp>
        <p:nvSpPr>
          <p:cNvPr id="12" name="Text 10"/>
          <p:cNvSpPr/>
          <p:nvPr/>
        </p:nvSpPr>
        <p:spPr>
          <a:xfrm>
            <a:off x="7680960" y="1783080"/>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POS System</a:t>
            </a:r>
            <a:endParaRPr lang="en-US" sz="1100" dirty="0"/>
          </a:p>
        </p:txBody>
      </p:sp>
      <p:sp>
        <p:nvSpPr>
          <p:cNvPr id="13" name="Shape 11"/>
          <p:cNvSpPr/>
          <p:nvPr/>
        </p:nvSpPr>
        <p:spPr>
          <a:xfrm>
            <a:off x="457200" y="2281428"/>
            <a:ext cx="11274552" cy="498348"/>
          </a:xfrm>
          <a:prstGeom prst="rect">
            <a:avLst/>
          </a:prstGeom>
          <a:solidFill>
            <a:srgbClr val="EEE9F8"/>
          </a:solidFill>
          <a:ln/>
        </p:spPr>
      </p:sp>
      <p:sp>
        <p:nvSpPr>
          <p:cNvPr id="14" name="Text 12"/>
          <p:cNvSpPr/>
          <p:nvPr/>
        </p:nvSpPr>
        <p:spPr>
          <a:xfrm>
            <a:off x="640080" y="2281428"/>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Sales by store</a:t>
            </a:r>
            <a:endParaRPr lang="en-US" sz="1150" dirty="0"/>
          </a:p>
        </p:txBody>
      </p:sp>
      <p:sp>
        <p:nvSpPr>
          <p:cNvPr id="15" name="Text 13"/>
          <p:cNvSpPr/>
          <p:nvPr/>
        </p:nvSpPr>
        <p:spPr>
          <a:xfrm>
            <a:off x="3977640" y="2281428"/>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Store ID, date, and amount</a:t>
            </a:r>
            <a:endParaRPr lang="en-US" sz="1100" dirty="0"/>
          </a:p>
        </p:txBody>
      </p:sp>
      <p:sp>
        <p:nvSpPr>
          <p:cNvPr id="16" name="Text 14"/>
          <p:cNvSpPr/>
          <p:nvPr/>
        </p:nvSpPr>
        <p:spPr>
          <a:xfrm>
            <a:off x="7680960" y="2281428"/>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POS System</a:t>
            </a:r>
            <a:endParaRPr lang="en-US" sz="1100" dirty="0"/>
          </a:p>
        </p:txBody>
      </p:sp>
      <p:sp>
        <p:nvSpPr>
          <p:cNvPr id="17" name="Shape 15"/>
          <p:cNvSpPr/>
          <p:nvPr/>
        </p:nvSpPr>
        <p:spPr>
          <a:xfrm>
            <a:off x="457200" y="2779776"/>
            <a:ext cx="11274552" cy="498348"/>
          </a:xfrm>
          <a:prstGeom prst="rect">
            <a:avLst/>
          </a:prstGeom>
          <a:solidFill>
            <a:srgbClr val="FFFFFF"/>
          </a:solidFill>
          <a:ln/>
        </p:spPr>
      </p:sp>
      <p:sp>
        <p:nvSpPr>
          <p:cNvPr id="18" name="Text 16"/>
          <p:cNvSpPr/>
          <p:nvPr/>
        </p:nvSpPr>
        <p:spPr>
          <a:xfrm>
            <a:off x="640080" y="2779776"/>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Sales by region</a:t>
            </a:r>
            <a:endParaRPr lang="en-US" sz="1150" dirty="0"/>
          </a:p>
        </p:txBody>
      </p:sp>
      <p:sp>
        <p:nvSpPr>
          <p:cNvPr id="19" name="Text 17"/>
          <p:cNvSpPr/>
          <p:nvPr/>
        </p:nvSpPr>
        <p:spPr>
          <a:xfrm>
            <a:off x="3977640" y="2779776"/>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Store and region information</a:t>
            </a:r>
            <a:endParaRPr lang="en-US" sz="1100" dirty="0"/>
          </a:p>
        </p:txBody>
      </p:sp>
      <p:sp>
        <p:nvSpPr>
          <p:cNvPr id="20" name="Text 18"/>
          <p:cNvSpPr/>
          <p:nvPr/>
        </p:nvSpPr>
        <p:spPr>
          <a:xfrm>
            <a:off x="7680960" y="2779776"/>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POS System + Store Catalog</a:t>
            </a:r>
            <a:endParaRPr lang="en-US" sz="1100" dirty="0"/>
          </a:p>
        </p:txBody>
      </p:sp>
      <p:sp>
        <p:nvSpPr>
          <p:cNvPr id="21" name="Shape 19"/>
          <p:cNvSpPr/>
          <p:nvPr/>
        </p:nvSpPr>
        <p:spPr>
          <a:xfrm>
            <a:off x="457200" y="3278124"/>
            <a:ext cx="11274552" cy="498348"/>
          </a:xfrm>
          <a:prstGeom prst="rect">
            <a:avLst/>
          </a:prstGeom>
          <a:solidFill>
            <a:srgbClr val="EEE9F8"/>
          </a:solidFill>
          <a:ln/>
        </p:spPr>
      </p:sp>
      <p:sp>
        <p:nvSpPr>
          <p:cNvPr id="22" name="Text 20"/>
          <p:cNvSpPr/>
          <p:nvPr/>
        </p:nvSpPr>
        <p:spPr>
          <a:xfrm>
            <a:off x="640080" y="3278124"/>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Product performance</a:t>
            </a:r>
            <a:endParaRPr lang="en-US" sz="1150" dirty="0"/>
          </a:p>
        </p:txBody>
      </p:sp>
      <p:sp>
        <p:nvSpPr>
          <p:cNvPr id="23" name="Text 21"/>
          <p:cNvSpPr/>
          <p:nvPr/>
        </p:nvSpPr>
        <p:spPr>
          <a:xfrm>
            <a:off x="3977640" y="3278124"/>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Product catalog and sales</a:t>
            </a:r>
            <a:endParaRPr lang="en-US" sz="1100" dirty="0"/>
          </a:p>
        </p:txBody>
      </p:sp>
      <p:sp>
        <p:nvSpPr>
          <p:cNvPr id="24" name="Text 22"/>
          <p:cNvSpPr/>
          <p:nvPr/>
        </p:nvSpPr>
        <p:spPr>
          <a:xfrm>
            <a:off x="7680960" y="3278124"/>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Product Catalog + POS System</a:t>
            </a:r>
            <a:endParaRPr lang="en-US" sz="1100" dirty="0"/>
          </a:p>
        </p:txBody>
      </p:sp>
      <p:sp>
        <p:nvSpPr>
          <p:cNvPr id="25" name="Shape 23"/>
          <p:cNvSpPr/>
          <p:nvPr/>
        </p:nvSpPr>
        <p:spPr>
          <a:xfrm>
            <a:off x="457200" y="3776472"/>
            <a:ext cx="11274552" cy="498348"/>
          </a:xfrm>
          <a:prstGeom prst="rect">
            <a:avLst/>
          </a:prstGeom>
          <a:solidFill>
            <a:srgbClr val="FFFFFF"/>
          </a:solidFill>
          <a:ln/>
        </p:spPr>
      </p:sp>
      <p:sp>
        <p:nvSpPr>
          <p:cNvPr id="26" name="Text 24"/>
          <p:cNvSpPr/>
          <p:nvPr/>
        </p:nvSpPr>
        <p:spPr>
          <a:xfrm>
            <a:off x="640080" y="3776472"/>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Category performance</a:t>
            </a:r>
            <a:endParaRPr lang="en-US" sz="1150" dirty="0"/>
          </a:p>
        </p:txBody>
      </p:sp>
      <p:sp>
        <p:nvSpPr>
          <p:cNvPr id="27" name="Text 25"/>
          <p:cNvSpPr/>
          <p:nvPr/>
        </p:nvSpPr>
        <p:spPr>
          <a:xfrm>
            <a:off x="3977640" y="3776472"/>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Categories and sales</a:t>
            </a:r>
            <a:endParaRPr lang="en-US" sz="1100" dirty="0"/>
          </a:p>
        </p:txBody>
      </p:sp>
      <p:sp>
        <p:nvSpPr>
          <p:cNvPr id="28" name="Text 26"/>
          <p:cNvSpPr/>
          <p:nvPr/>
        </p:nvSpPr>
        <p:spPr>
          <a:xfrm>
            <a:off x="7680960" y="3776472"/>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Product Catalog</a:t>
            </a:r>
            <a:endParaRPr lang="en-US" sz="1100" dirty="0"/>
          </a:p>
        </p:txBody>
      </p:sp>
      <p:sp>
        <p:nvSpPr>
          <p:cNvPr id="29" name="Shape 27"/>
          <p:cNvSpPr/>
          <p:nvPr/>
        </p:nvSpPr>
        <p:spPr>
          <a:xfrm>
            <a:off x="457200" y="4274820"/>
            <a:ext cx="11274552" cy="498348"/>
          </a:xfrm>
          <a:prstGeom prst="rect">
            <a:avLst/>
          </a:prstGeom>
          <a:solidFill>
            <a:srgbClr val="EEE9F8"/>
          </a:solidFill>
          <a:ln/>
        </p:spPr>
      </p:sp>
      <p:sp>
        <p:nvSpPr>
          <p:cNvPr id="30" name="Text 28"/>
          <p:cNvSpPr/>
          <p:nvPr/>
        </p:nvSpPr>
        <p:spPr>
          <a:xfrm>
            <a:off x="640080" y="4274820"/>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Goal compliance</a:t>
            </a:r>
            <a:endParaRPr lang="en-US" sz="1150" dirty="0"/>
          </a:p>
        </p:txBody>
      </p:sp>
      <p:sp>
        <p:nvSpPr>
          <p:cNvPr id="31" name="Text 29"/>
          <p:cNvSpPr/>
          <p:nvPr/>
        </p:nvSpPr>
        <p:spPr>
          <a:xfrm>
            <a:off x="3977640" y="4274820"/>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Commercial goals and actual sales</a:t>
            </a:r>
            <a:endParaRPr lang="en-US" sz="1100" dirty="0"/>
          </a:p>
        </p:txBody>
      </p:sp>
      <p:sp>
        <p:nvSpPr>
          <p:cNvPr id="32" name="Text 30"/>
          <p:cNvSpPr/>
          <p:nvPr/>
        </p:nvSpPr>
        <p:spPr>
          <a:xfrm>
            <a:off x="7680960" y="4274820"/>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Commercial Goals System</a:t>
            </a:r>
            <a:endParaRPr lang="en-US" sz="1100" dirty="0"/>
          </a:p>
        </p:txBody>
      </p:sp>
      <p:sp>
        <p:nvSpPr>
          <p:cNvPr id="33" name="Shape 31"/>
          <p:cNvSpPr/>
          <p:nvPr/>
        </p:nvSpPr>
        <p:spPr>
          <a:xfrm>
            <a:off x="457200" y="4773168"/>
            <a:ext cx="11274552" cy="498348"/>
          </a:xfrm>
          <a:prstGeom prst="rect">
            <a:avLst/>
          </a:prstGeom>
          <a:solidFill>
            <a:srgbClr val="FFFFFF"/>
          </a:solidFill>
          <a:ln/>
        </p:spPr>
      </p:sp>
      <p:sp>
        <p:nvSpPr>
          <p:cNvPr id="34" name="Text 32"/>
          <p:cNvSpPr/>
          <p:nvPr/>
        </p:nvSpPr>
        <p:spPr>
          <a:xfrm>
            <a:off x="640080" y="4773168"/>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Active promotions</a:t>
            </a:r>
            <a:endParaRPr lang="en-US" sz="1150" dirty="0"/>
          </a:p>
        </p:txBody>
      </p:sp>
      <p:sp>
        <p:nvSpPr>
          <p:cNvPr id="35" name="Text 33"/>
          <p:cNvSpPr/>
          <p:nvPr/>
        </p:nvSpPr>
        <p:spPr>
          <a:xfrm>
            <a:off x="3977640" y="4773168"/>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Campaigns, dates, and products</a:t>
            </a:r>
            <a:endParaRPr lang="en-US" sz="1100" dirty="0"/>
          </a:p>
        </p:txBody>
      </p:sp>
      <p:sp>
        <p:nvSpPr>
          <p:cNvPr id="36" name="Text 34"/>
          <p:cNvSpPr/>
          <p:nvPr/>
        </p:nvSpPr>
        <p:spPr>
          <a:xfrm>
            <a:off x="7680960" y="4773168"/>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Promotion System</a:t>
            </a:r>
            <a:endParaRPr lang="en-US" sz="1100" dirty="0"/>
          </a:p>
        </p:txBody>
      </p:sp>
      <p:sp>
        <p:nvSpPr>
          <p:cNvPr id="37" name="Shape 35"/>
          <p:cNvSpPr/>
          <p:nvPr/>
        </p:nvSpPr>
        <p:spPr>
          <a:xfrm>
            <a:off x="457200" y="5271516"/>
            <a:ext cx="11274552" cy="498348"/>
          </a:xfrm>
          <a:prstGeom prst="rect">
            <a:avLst/>
          </a:prstGeom>
          <a:solidFill>
            <a:srgbClr val="EEE9F8"/>
          </a:solidFill>
          <a:ln/>
        </p:spPr>
      </p:sp>
      <p:sp>
        <p:nvSpPr>
          <p:cNvPr id="38" name="Text 36"/>
          <p:cNvSpPr/>
          <p:nvPr/>
        </p:nvSpPr>
        <p:spPr>
          <a:xfrm>
            <a:off x="640080" y="5271516"/>
            <a:ext cx="3291840" cy="498348"/>
          </a:xfrm>
          <a:prstGeom prst="rect">
            <a:avLst/>
          </a:prstGeom>
          <a:noFill/>
          <a:ln/>
        </p:spPr>
        <p:txBody>
          <a:bodyPr wrap="square" lIns="0" tIns="0" rIns="0" bIns="0" rtlCol="0" anchor="ctr"/>
          <a:lstStyle/>
          <a:p>
            <a:pPr indent="0" marL="0">
              <a:buNone/>
            </a:pPr>
            <a:r>
              <a:rPr lang="en-US" sz="1150" b="1" dirty="0">
                <a:solidFill>
                  <a:srgbClr val="231942"/>
                </a:solidFill>
                <a:latin typeface="Calibri" pitchFamily="34" charset="0"/>
                <a:ea typeface="Calibri" pitchFamily="34" charset="-122"/>
                <a:cs typeface="Calibri" pitchFamily="34" charset="-120"/>
              </a:rPr>
              <a:t>Historical trends</a:t>
            </a:r>
            <a:endParaRPr lang="en-US" sz="1150" dirty="0"/>
          </a:p>
        </p:txBody>
      </p:sp>
      <p:sp>
        <p:nvSpPr>
          <p:cNvPr id="39" name="Text 37"/>
          <p:cNvSpPr/>
          <p:nvPr/>
        </p:nvSpPr>
        <p:spPr>
          <a:xfrm>
            <a:off x="3977640" y="5271516"/>
            <a:ext cx="3566160" cy="498348"/>
          </a:xfrm>
          <a:prstGeom prst="rect">
            <a:avLst/>
          </a:prstGeom>
          <a:noFill/>
          <a:ln/>
        </p:spPr>
        <p:txBody>
          <a:bodyPr wrap="square" lIns="0" tIns="0" rIns="0" bIns="0" rtlCol="0" anchor="ctr"/>
          <a:lstStyle/>
          <a:p>
            <a:pPr indent="0" marL="0">
              <a:buNone/>
            </a:pPr>
            <a:r>
              <a:rPr lang="en-US" sz="1100" dirty="0">
                <a:solidFill>
                  <a:srgbClr val="231942"/>
                </a:solidFill>
                <a:latin typeface="Calibri" pitchFamily="34" charset="0"/>
                <a:ea typeface="Calibri" pitchFamily="34" charset="-122"/>
                <a:cs typeface="Calibri" pitchFamily="34" charset="-120"/>
              </a:rPr>
              <a:t>Sales history</a:t>
            </a:r>
            <a:endParaRPr lang="en-US" sz="1100" dirty="0"/>
          </a:p>
        </p:txBody>
      </p:sp>
      <p:sp>
        <p:nvSpPr>
          <p:cNvPr id="40" name="Text 38"/>
          <p:cNvSpPr/>
          <p:nvPr/>
        </p:nvSpPr>
        <p:spPr>
          <a:xfrm>
            <a:off x="7680960" y="5271516"/>
            <a:ext cx="3931920" cy="498348"/>
          </a:xfrm>
          <a:prstGeom prst="rect">
            <a:avLst/>
          </a:prstGeom>
          <a:noFill/>
          <a:ln/>
        </p:spPr>
        <p:txBody>
          <a:bodyPr wrap="square" lIns="0" tIns="0" rIns="0" bIns="0" rtlCol="0" anchor="ctr"/>
          <a:lstStyle/>
          <a:p>
            <a:pPr indent="0" marL="0">
              <a:buNone/>
            </a:pPr>
            <a:r>
              <a:rPr lang="en-US" sz="1100" b="1" dirty="0">
                <a:solidFill>
                  <a:srgbClr val="4B2E93"/>
                </a:solidFill>
                <a:latin typeface="Calibri" pitchFamily="34" charset="0"/>
                <a:ea typeface="Calibri" pitchFamily="34" charset="-122"/>
                <a:cs typeface="Calibri" pitchFamily="34" charset="-120"/>
              </a:rPr>
              <a:t>POS System</a:t>
            </a:r>
            <a:endParaRPr lang="en-US" sz="1100" dirty="0"/>
          </a:p>
        </p:txBody>
      </p:sp>
      <p:sp>
        <p:nvSpPr>
          <p:cNvPr id="41" name="Text 39"/>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42" name="Text 40"/>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06 / 12</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User Stories</a:t>
            </a:r>
            <a:endParaRPr lang="en-US" sz="2600" dirty="0"/>
          </a:p>
        </p:txBody>
      </p:sp>
      <p:sp>
        <p:nvSpPr>
          <p:cNvPr id="5" name="Shape 3"/>
          <p:cNvSpPr/>
          <p:nvPr/>
        </p:nvSpPr>
        <p:spPr>
          <a:xfrm>
            <a:off x="457200" y="1417320"/>
            <a:ext cx="5440680" cy="1536192"/>
          </a:xfrm>
          <a:prstGeom prst="roundRect">
            <a:avLst>
              <a:gd name="adj" fmla="val 5952"/>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6" name="Shape 4"/>
          <p:cNvSpPr/>
          <p:nvPr/>
        </p:nvSpPr>
        <p:spPr>
          <a:xfrm>
            <a:off x="685800" y="1600200"/>
            <a:ext cx="2377440" cy="320040"/>
          </a:xfrm>
          <a:prstGeom prst="roundRect">
            <a:avLst>
              <a:gd name="adj" fmla="val 48571"/>
            </a:avLst>
          </a:prstGeom>
          <a:solidFill>
            <a:srgbClr val="7B5AC4"/>
          </a:solidFill>
          <a:ln w="12700">
            <a:solidFill>
              <a:srgbClr val="7B5AC4"/>
            </a:solidFill>
            <a:prstDash val="solid"/>
          </a:ln>
        </p:spPr>
      </p:sp>
      <p:sp>
        <p:nvSpPr>
          <p:cNvPr id="7" name="Text 5"/>
          <p:cNvSpPr/>
          <p:nvPr/>
        </p:nvSpPr>
        <p:spPr>
          <a:xfrm>
            <a:off x="685800" y="1600200"/>
            <a:ext cx="23774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Regional Manager</a:t>
            </a:r>
            <a:endParaRPr lang="en-US" sz="1100" dirty="0"/>
          </a:p>
        </p:txBody>
      </p:sp>
      <p:sp>
        <p:nvSpPr>
          <p:cNvPr id="8" name="Text 6"/>
          <p:cNvSpPr/>
          <p:nvPr/>
        </p:nvSpPr>
        <p:spPr>
          <a:xfrm>
            <a:off x="685800" y="2039112"/>
            <a:ext cx="4983480" cy="822960"/>
          </a:xfrm>
          <a:prstGeom prst="rect">
            <a:avLst/>
          </a:prstGeom>
          <a:noFill/>
          <a:ln/>
        </p:spPr>
        <p:txBody>
          <a:bodyPr wrap="square" lIns="0" tIns="0" rIns="0" bIns="0" rtlCol="0" anchor="ctr"/>
          <a:lstStyle/>
          <a:p>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I want to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visualize sales of all stores in my region. </a:t>
            </a:r>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So that I can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quickly identify the best and worst performers.</a:t>
            </a:r>
            <a:endParaRPr lang="en-US" sz="1200" dirty="0"/>
          </a:p>
        </p:txBody>
      </p:sp>
      <p:sp>
        <p:nvSpPr>
          <p:cNvPr id="9" name="Shape 7"/>
          <p:cNvSpPr/>
          <p:nvPr/>
        </p:nvSpPr>
        <p:spPr>
          <a:xfrm>
            <a:off x="6126480" y="1417320"/>
            <a:ext cx="5440680" cy="1536192"/>
          </a:xfrm>
          <a:prstGeom prst="roundRect">
            <a:avLst>
              <a:gd name="adj" fmla="val 5952"/>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0" name="Shape 8"/>
          <p:cNvSpPr/>
          <p:nvPr/>
        </p:nvSpPr>
        <p:spPr>
          <a:xfrm>
            <a:off x="6355080" y="1600200"/>
            <a:ext cx="2377440" cy="320040"/>
          </a:xfrm>
          <a:prstGeom prst="roundRect">
            <a:avLst>
              <a:gd name="adj" fmla="val 48571"/>
            </a:avLst>
          </a:prstGeom>
          <a:solidFill>
            <a:srgbClr val="7B5AC4"/>
          </a:solidFill>
          <a:ln w="12700">
            <a:solidFill>
              <a:srgbClr val="7B5AC4"/>
            </a:solidFill>
            <a:prstDash val="solid"/>
          </a:ln>
        </p:spPr>
      </p:sp>
      <p:sp>
        <p:nvSpPr>
          <p:cNvPr id="11" name="Text 9"/>
          <p:cNvSpPr/>
          <p:nvPr/>
        </p:nvSpPr>
        <p:spPr>
          <a:xfrm>
            <a:off x="6355080" y="1600200"/>
            <a:ext cx="23774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Store Manager</a:t>
            </a:r>
            <a:endParaRPr lang="en-US" sz="1100" dirty="0"/>
          </a:p>
        </p:txBody>
      </p:sp>
      <p:sp>
        <p:nvSpPr>
          <p:cNvPr id="12" name="Text 10"/>
          <p:cNvSpPr/>
          <p:nvPr/>
        </p:nvSpPr>
        <p:spPr>
          <a:xfrm>
            <a:off x="6355080" y="2039112"/>
            <a:ext cx="4983480" cy="822960"/>
          </a:xfrm>
          <a:prstGeom prst="rect">
            <a:avLst/>
          </a:prstGeom>
          <a:noFill/>
          <a:ln/>
        </p:spPr>
        <p:txBody>
          <a:bodyPr wrap="square" lIns="0" tIns="0" rIns="0" bIns="0" rtlCol="0" anchor="ctr"/>
          <a:lstStyle/>
          <a:p>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I want to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view sales by product category. </a:t>
            </a:r>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So that I can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detect which products need promotion.</a:t>
            </a:r>
            <a:endParaRPr lang="en-US" sz="1200" dirty="0"/>
          </a:p>
        </p:txBody>
      </p:sp>
      <p:sp>
        <p:nvSpPr>
          <p:cNvPr id="13" name="Shape 11"/>
          <p:cNvSpPr/>
          <p:nvPr/>
        </p:nvSpPr>
        <p:spPr>
          <a:xfrm>
            <a:off x="457200" y="3108960"/>
            <a:ext cx="5440680" cy="1536192"/>
          </a:xfrm>
          <a:prstGeom prst="roundRect">
            <a:avLst>
              <a:gd name="adj" fmla="val 5952"/>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4" name="Shape 12"/>
          <p:cNvSpPr/>
          <p:nvPr/>
        </p:nvSpPr>
        <p:spPr>
          <a:xfrm>
            <a:off x="685800" y="3291840"/>
            <a:ext cx="2377440" cy="320040"/>
          </a:xfrm>
          <a:prstGeom prst="roundRect">
            <a:avLst>
              <a:gd name="adj" fmla="val 48571"/>
            </a:avLst>
          </a:prstGeom>
          <a:solidFill>
            <a:srgbClr val="7B5AC4"/>
          </a:solidFill>
          <a:ln w="12700">
            <a:solidFill>
              <a:srgbClr val="7B5AC4"/>
            </a:solidFill>
            <a:prstDash val="solid"/>
          </a:ln>
        </p:spPr>
      </p:sp>
      <p:sp>
        <p:nvSpPr>
          <p:cNvPr id="15" name="Text 13"/>
          <p:cNvSpPr/>
          <p:nvPr/>
        </p:nvSpPr>
        <p:spPr>
          <a:xfrm>
            <a:off x="685800" y="3291840"/>
            <a:ext cx="23774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Marketing Team</a:t>
            </a:r>
            <a:endParaRPr lang="en-US" sz="1100" dirty="0"/>
          </a:p>
        </p:txBody>
      </p:sp>
      <p:sp>
        <p:nvSpPr>
          <p:cNvPr id="16" name="Text 14"/>
          <p:cNvSpPr/>
          <p:nvPr/>
        </p:nvSpPr>
        <p:spPr>
          <a:xfrm>
            <a:off x="685800" y="3730752"/>
            <a:ext cx="4983480" cy="822960"/>
          </a:xfrm>
          <a:prstGeom prst="rect">
            <a:avLst/>
          </a:prstGeom>
          <a:noFill/>
          <a:ln/>
        </p:spPr>
        <p:txBody>
          <a:bodyPr wrap="square" lIns="0" tIns="0" rIns="0" bIns="0" rtlCol="0" anchor="ctr"/>
          <a:lstStyle/>
          <a:p>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I want to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see which stores meet their commercial goals. </a:t>
            </a:r>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So that I can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adjust advertising campaigns.</a:t>
            </a:r>
            <a:endParaRPr lang="en-US" sz="1200" dirty="0"/>
          </a:p>
        </p:txBody>
      </p:sp>
      <p:sp>
        <p:nvSpPr>
          <p:cNvPr id="17" name="Shape 15"/>
          <p:cNvSpPr/>
          <p:nvPr/>
        </p:nvSpPr>
        <p:spPr>
          <a:xfrm>
            <a:off x="6126480" y="3108960"/>
            <a:ext cx="5440680" cy="1536192"/>
          </a:xfrm>
          <a:prstGeom prst="roundRect">
            <a:avLst>
              <a:gd name="adj" fmla="val 5952"/>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18" name="Shape 16"/>
          <p:cNvSpPr/>
          <p:nvPr/>
        </p:nvSpPr>
        <p:spPr>
          <a:xfrm>
            <a:off x="6355080" y="3291840"/>
            <a:ext cx="2377440" cy="320040"/>
          </a:xfrm>
          <a:prstGeom prst="roundRect">
            <a:avLst>
              <a:gd name="adj" fmla="val 48571"/>
            </a:avLst>
          </a:prstGeom>
          <a:solidFill>
            <a:srgbClr val="7B5AC4"/>
          </a:solidFill>
          <a:ln w="12700">
            <a:solidFill>
              <a:srgbClr val="7B5AC4"/>
            </a:solidFill>
            <a:prstDash val="solid"/>
          </a:ln>
        </p:spPr>
      </p:sp>
      <p:sp>
        <p:nvSpPr>
          <p:cNvPr id="19" name="Text 17"/>
          <p:cNvSpPr/>
          <p:nvPr/>
        </p:nvSpPr>
        <p:spPr>
          <a:xfrm>
            <a:off x="6355080" y="3291840"/>
            <a:ext cx="23774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Commercial Director</a:t>
            </a:r>
            <a:endParaRPr lang="en-US" sz="1100" dirty="0"/>
          </a:p>
        </p:txBody>
      </p:sp>
      <p:sp>
        <p:nvSpPr>
          <p:cNvPr id="20" name="Text 18"/>
          <p:cNvSpPr/>
          <p:nvPr/>
        </p:nvSpPr>
        <p:spPr>
          <a:xfrm>
            <a:off x="6355080" y="3730752"/>
            <a:ext cx="4983480" cy="822960"/>
          </a:xfrm>
          <a:prstGeom prst="rect">
            <a:avLst/>
          </a:prstGeom>
          <a:noFill/>
          <a:ln/>
        </p:spPr>
        <p:txBody>
          <a:bodyPr wrap="square" lIns="0" tIns="0" rIns="0" bIns="0" rtlCol="0" anchor="ctr"/>
          <a:lstStyle/>
          <a:p>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I want to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download consolidated reports of sales and goal compliance. </a:t>
            </a:r>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So that I can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present them in follow-up meetings.</a:t>
            </a:r>
            <a:endParaRPr lang="en-US" sz="1200" dirty="0"/>
          </a:p>
        </p:txBody>
      </p:sp>
      <p:sp>
        <p:nvSpPr>
          <p:cNvPr id="21" name="Shape 19"/>
          <p:cNvSpPr/>
          <p:nvPr/>
        </p:nvSpPr>
        <p:spPr>
          <a:xfrm>
            <a:off x="3374136" y="4800600"/>
            <a:ext cx="5440680" cy="1536192"/>
          </a:xfrm>
          <a:prstGeom prst="roundRect">
            <a:avLst>
              <a:gd name="adj" fmla="val 5952"/>
            </a:avLst>
          </a:prstGeom>
          <a:solidFill>
            <a:srgbClr val="FFFFFF"/>
          </a:solidFill>
          <a:ln w="12700">
            <a:solidFill>
              <a:srgbClr val="E4DDF3"/>
            </a:solidFill>
            <a:prstDash val="solid"/>
          </a:ln>
          <a:effectLst>
            <a:outerShdw sx="100000" sy="100000" kx="0" ky="0" algn="bl" rotWithShape="0" blurRad="76200" dist="25400" dir="5400000">
              <a:srgbClr val="231942">
                <a:alpha val="8000"/>
              </a:srgbClr>
            </a:outerShdw>
          </a:effectLst>
        </p:spPr>
      </p:sp>
      <p:sp>
        <p:nvSpPr>
          <p:cNvPr id="22" name="Shape 20"/>
          <p:cNvSpPr/>
          <p:nvPr/>
        </p:nvSpPr>
        <p:spPr>
          <a:xfrm>
            <a:off x="3602736" y="4983480"/>
            <a:ext cx="2377440" cy="320040"/>
          </a:xfrm>
          <a:prstGeom prst="roundRect">
            <a:avLst>
              <a:gd name="adj" fmla="val 48571"/>
            </a:avLst>
          </a:prstGeom>
          <a:solidFill>
            <a:srgbClr val="7B5AC4"/>
          </a:solidFill>
          <a:ln w="12700">
            <a:solidFill>
              <a:srgbClr val="7B5AC4"/>
            </a:solidFill>
            <a:prstDash val="solid"/>
          </a:ln>
        </p:spPr>
      </p:sp>
      <p:sp>
        <p:nvSpPr>
          <p:cNvPr id="23" name="Text 21"/>
          <p:cNvSpPr/>
          <p:nvPr/>
        </p:nvSpPr>
        <p:spPr>
          <a:xfrm>
            <a:off x="3602736" y="4983480"/>
            <a:ext cx="2377440" cy="3200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Store Manager</a:t>
            </a:r>
            <a:endParaRPr lang="en-US" sz="1100" dirty="0"/>
          </a:p>
        </p:txBody>
      </p:sp>
      <p:sp>
        <p:nvSpPr>
          <p:cNvPr id="24" name="Text 22"/>
          <p:cNvSpPr/>
          <p:nvPr/>
        </p:nvSpPr>
        <p:spPr>
          <a:xfrm>
            <a:off x="3602736" y="5422392"/>
            <a:ext cx="4983480" cy="822960"/>
          </a:xfrm>
          <a:prstGeom prst="rect">
            <a:avLst/>
          </a:prstGeom>
          <a:noFill/>
          <a:ln/>
        </p:spPr>
        <p:txBody>
          <a:bodyPr wrap="square" lIns="0" tIns="0" rIns="0" bIns="0" rtlCol="0" anchor="ctr"/>
          <a:lstStyle/>
          <a:p>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I want to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visualize the impact of promotions on sales. </a:t>
            </a:r>
            <a:pPr indent="0" marL="0">
              <a:lnSpc>
                <a:spcPct val="110000"/>
              </a:lnSpc>
              <a:buNone/>
            </a:pPr>
            <a:r>
              <a:rPr lang="en-US" sz="1200" dirty="0">
                <a:solidFill>
                  <a:srgbClr val="685C82"/>
                </a:solidFill>
                <a:latin typeface="Calibri" pitchFamily="34" charset="0"/>
                <a:ea typeface="Calibri" pitchFamily="34" charset="-122"/>
                <a:cs typeface="Calibri" pitchFamily="34" charset="-120"/>
              </a:rPr>
              <a:t>So that I can </a:t>
            </a:r>
            <a:pPr indent="0" marL="0">
              <a:lnSpc>
                <a:spcPct val="110000"/>
              </a:lnSpc>
              <a:buNone/>
            </a:pPr>
            <a:r>
              <a:rPr lang="en-US" sz="1200" b="1" dirty="0">
                <a:solidFill>
                  <a:srgbClr val="231942"/>
                </a:solidFill>
                <a:latin typeface="Calibri" pitchFamily="34" charset="0"/>
                <a:ea typeface="Calibri" pitchFamily="34" charset="-122"/>
                <a:cs typeface="Calibri" pitchFamily="34" charset="-120"/>
              </a:rPr>
              <a:t>identify which campaigns drive the best results.</a:t>
            </a:r>
            <a:endParaRPr lang="en-US" sz="1200" dirty="0"/>
          </a:p>
        </p:txBody>
      </p:sp>
      <p:sp>
        <p:nvSpPr>
          <p:cNvPr id="25" name="Text 23"/>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26" name="Text 24"/>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07 / 12</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Dashboard KPIs</a:t>
            </a:r>
            <a:endParaRPr lang="en-US" sz="2600" dirty="0"/>
          </a:p>
        </p:txBody>
      </p:sp>
      <p:sp>
        <p:nvSpPr>
          <p:cNvPr id="5" name="Shape 3"/>
          <p:cNvSpPr/>
          <p:nvPr/>
        </p:nvSpPr>
        <p:spPr>
          <a:xfrm>
            <a:off x="457200" y="1417320"/>
            <a:ext cx="3611880" cy="1737360"/>
          </a:xfrm>
          <a:prstGeom prst="roundRect">
            <a:avLst>
              <a:gd name="adj" fmla="val 5263"/>
            </a:avLst>
          </a:prstGeom>
          <a:solidFill>
            <a:srgbClr val="4B2E93"/>
          </a:solidFill>
          <a:ln/>
        </p:spPr>
      </p:sp>
      <p:sp>
        <p:nvSpPr>
          <p:cNvPr id="6" name="Text 4"/>
          <p:cNvSpPr/>
          <p:nvPr/>
        </p:nvSpPr>
        <p:spPr>
          <a:xfrm>
            <a:off x="685800" y="160020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Total Revenue</a:t>
            </a:r>
            <a:endParaRPr lang="en-US" sz="1500" dirty="0"/>
          </a:p>
        </p:txBody>
      </p:sp>
      <p:sp>
        <p:nvSpPr>
          <p:cNvPr id="7" name="Text 5"/>
          <p:cNvSpPr/>
          <p:nvPr/>
        </p:nvSpPr>
        <p:spPr>
          <a:xfrm>
            <a:off x="685800" y="219456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Total value of sales made</a:t>
            </a:r>
            <a:endParaRPr lang="en-US" sz="1150" dirty="0"/>
          </a:p>
        </p:txBody>
      </p:sp>
      <p:sp>
        <p:nvSpPr>
          <p:cNvPr id="8" name="Shape 6"/>
          <p:cNvSpPr/>
          <p:nvPr/>
        </p:nvSpPr>
        <p:spPr>
          <a:xfrm>
            <a:off x="4261104" y="1417320"/>
            <a:ext cx="3611880" cy="1737360"/>
          </a:xfrm>
          <a:prstGeom prst="roundRect">
            <a:avLst>
              <a:gd name="adj" fmla="val 5263"/>
            </a:avLst>
          </a:prstGeom>
          <a:solidFill>
            <a:srgbClr val="4B2E93"/>
          </a:solidFill>
          <a:ln/>
        </p:spPr>
      </p:sp>
      <p:sp>
        <p:nvSpPr>
          <p:cNvPr id="9" name="Text 7"/>
          <p:cNvSpPr/>
          <p:nvPr/>
        </p:nvSpPr>
        <p:spPr>
          <a:xfrm>
            <a:off x="4489704" y="160020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Sales by Store / Region</a:t>
            </a:r>
            <a:endParaRPr lang="en-US" sz="1500" dirty="0"/>
          </a:p>
        </p:txBody>
      </p:sp>
      <p:sp>
        <p:nvSpPr>
          <p:cNvPr id="10" name="Text 8"/>
          <p:cNvSpPr/>
          <p:nvPr/>
        </p:nvSpPr>
        <p:spPr>
          <a:xfrm>
            <a:off x="4489704" y="219456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Compares performance across branches</a:t>
            </a:r>
            <a:endParaRPr lang="en-US" sz="1150" dirty="0"/>
          </a:p>
        </p:txBody>
      </p:sp>
      <p:sp>
        <p:nvSpPr>
          <p:cNvPr id="11" name="Shape 9"/>
          <p:cNvSpPr/>
          <p:nvPr/>
        </p:nvSpPr>
        <p:spPr>
          <a:xfrm>
            <a:off x="8065008" y="1417320"/>
            <a:ext cx="3611880" cy="1737360"/>
          </a:xfrm>
          <a:prstGeom prst="roundRect">
            <a:avLst>
              <a:gd name="adj" fmla="val 5263"/>
            </a:avLst>
          </a:prstGeom>
          <a:solidFill>
            <a:srgbClr val="4B2E93"/>
          </a:solidFill>
          <a:ln/>
        </p:spPr>
      </p:sp>
      <p:sp>
        <p:nvSpPr>
          <p:cNvPr id="12" name="Text 10"/>
          <p:cNvSpPr/>
          <p:nvPr/>
        </p:nvSpPr>
        <p:spPr>
          <a:xfrm>
            <a:off x="8293608" y="160020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Sales by Category / Top 10</a:t>
            </a:r>
            <a:endParaRPr lang="en-US" sz="1500" dirty="0"/>
          </a:p>
        </p:txBody>
      </p:sp>
      <p:sp>
        <p:nvSpPr>
          <p:cNvPr id="13" name="Text 11"/>
          <p:cNvSpPr/>
          <p:nvPr/>
        </p:nvSpPr>
        <p:spPr>
          <a:xfrm>
            <a:off x="8293608" y="219456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Best and worst performing products and categories</a:t>
            </a:r>
            <a:endParaRPr lang="en-US" sz="1150" dirty="0"/>
          </a:p>
        </p:txBody>
      </p:sp>
      <p:sp>
        <p:nvSpPr>
          <p:cNvPr id="14" name="Shape 12"/>
          <p:cNvSpPr/>
          <p:nvPr/>
        </p:nvSpPr>
        <p:spPr>
          <a:xfrm>
            <a:off x="457200" y="3337560"/>
            <a:ext cx="3611880" cy="1737360"/>
          </a:xfrm>
          <a:prstGeom prst="roundRect">
            <a:avLst>
              <a:gd name="adj" fmla="val 5263"/>
            </a:avLst>
          </a:prstGeom>
          <a:solidFill>
            <a:srgbClr val="4B2E93"/>
          </a:solidFill>
          <a:ln/>
        </p:spPr>
      </p:sp>
      <p:sp>
        <p:nvSpPr>
          <p:cNvPr id="15" name="Text 13"/>
          <p:cNvSpPr/>
          <p:nvPr/>
        </p:nvSpPr>
        <p:spPr>
          <a:xfrm>
            <a:off x="685800" y="352044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Sales Growth (%)</a:t>
            </a:r>
            <a:endParaRPr lang="en-US" sz="1500" dirty="0"/>
          </a:p>
        </p:txBody>
      </p:sp>
      <p:sp>
        <p:nvSpPr>
          <p:cNvPr id="16" name="Text 14"/>
          <p:cNvSpPr/>
          <p:nvPr/>
        </p:nvSpPr>
        <p:spPr>
          <a:xfrm>
            <a:off x="685800" y="411480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Growth compared to previous periods</a:t>
            </a:r>
            <a:endParaRPr lang="en-US" sz="1150" dirty="0"/>
          </a:p>
        </p:txBody>
      </p:sp>
      <p:sp>
        <p:nvSpPr>
          <p:cNvPr id="17" name="Shape 15"/>
          <p:cNvSpPr/>
          <p:nvPr/>
        </p:nvSpPr>
        <p:spPr>
          <a:xfrm>
            <a:off x="4261104" y="3337560"/>
            <a:ext cx="3611880" cy="1737360"/>
          </a:xfrm>
          <a:prstGeom prst="roundRect">
            <a:avLst>
              <a:gd name="adj" fmla="val 5263"/>
            </a:avLst>
          </a:prstGeom>
          <a:solidFill>
            <a:srgbClr val="4B2E93"/>
          </a:solidFill>
          <a:ln/>
        </p:spPr>
      </p:sp>
      <p:sp>
        <p:nvSpPr>
          <p:cNvPr id="18" name="Text 16"/>
          <p:cNvSpPr/>
          <p:nvPr/>
        </p:nvSpPr>
        <p:spPr>
          <a:xfrm>
            <a:off x="4489704" y="352044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Goal Compliance %</a:t>
            </a:r>
            <a:endParaRPr lang="en-US" sz="1500" dirty="0"/>
          </a:p>
        </p:txBody>
      </p:sp>
      <p:sp>
        <p:nvSpPr>
          <p:cNvPr id="19" name="Text 17"/>
          <p:cNvSpPr/>
          <p:nvPr/>
        </p:nvSpPr>
        <p:spPr>
          <a:xfrm>
            <a:off x="4489704" y="411480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Commercial goal achievement</a:t>
            </a:r>
            <a:endParaRPr lang="en-US" sz="1150" dirty="0"/>
          </a:p>
        </p:txBody>
      </p:sp>
      <p:sp>
        <p:nvSpPr>
          <p:cNvPr id="20" name="Shape 18"/>
          <p:cNvSpPr/>
          <p:nvPr/>
        </p:nvSpPr>
        <p:spPr>
          <a:xfrm>
            <a:off x="8065008" y="3337560"/>
            <a:ext cx="3611880" cy="1737360"/>
          </a:xfrm>
          <a:prstGeom prst="roundRect">
            <a:avLst>
              <a:gd name="adj" fmla="val 5263"/>
            </a:avLst>
          </a:prstGeom>
          <a:solidFill>
            <a:srgbClr val="4B2E93"/>
          </a:solidFill>
          <a:ln/>
        </p:spPr>
      </p:sp>
      <p:sp>
        <p:nvSpPr>
          <p:cNvPr id="21" name="Text 19"/>
          <p:cNvSpPr/>
          <p:nvPr/>
        </p:nvSpPr>
        <p:spPr>
          <a:xfrm>
            <a:off x="8293608" y="3520440"/>
            <a:ext cx="3154680" cy="54864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Sales Increase by Promotion</a:t>
            </a:r>
            <a:endParaRPr lang="en-US" sz="1500" dirty="0"/>
          </a:p>
        </p:txBody>
      </p:sp>
      <p:sp>
        <p:nvSpPr>
          <p:cNvPr id="22" name="Text 20"/>
          <p:cNvSpPr/>
          <p:nvPr/>
        </p:nvSpPr>
        <p:spPr>
          <a:xfrm>
            <a:off x="8293608" y="4114800"/>
            <a:ext cx="3154680" cy="822960"/>
          </a:xfrm>
          <a:prstGeom prst="rect">
            <a:avLst/>
          </a:prstGeom>
          <a:noFill/>
          <a:ln/>
        </p:spPr>
        <p:txBody>
          <a:bodyPr wrap="square" lIns="0" tIns="0" rIns="0" bIns="0" rtlCol="0" anchor="ctr"/>
          <a:lstStyle/>
          <a:p>
            <a:pPr indent="0" marL="0">
              <a:buNone/>
            </a:pPr>
            <a:r>
              <a:rPr lang="en-US" sz="1150" dirty="0">
                <a:solidFill>
                  <a:srgbClr val="D8CFF0"/>
                </a:solidFill>
                <a:latin typeface="Calibri" pitchFamily="34" charset="0"/>
                <a:ea typeface="Calibri" pitchFamily="34" charset="-122"/>
                <a:cs typeface="Calibri" pitchFamily="34" charset="-120"/>
              </a:rPr>
              <a:t>Impact of promotional campaigns</a:t>
            </a:r>
            <a:endParaRPr lang="en-US" sz="1150" dirty="0"/>
          </a:p>
        </p:txBody>
      </p:sp>
      <p:sp>
        <p:nvSpPr>
          <p:cNvPr id="23" name="Text 21"/>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24" name="Text 22"/>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08 / 12</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236"/>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00D2A0"/>
          </a:solidFill>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1B1236"/>
                </a:solidFill>
                <a:latin typeface="Cambria" pitchFamily="34" charset="0"/>
                <a:ea typeface="Cambria" pitchFamily="34" charset="-122"/>
                <a:cs typeface="Cambria" pitchFamily="34" charset="-120"/>
              </a:rPr>
              <a:t>6</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Data Integration: The Challenge Behind the KPIs</a:t>
            </a:r>
            <a:endParaRPr lang="en-US" sz="2600" dirty="0"/>
          </a:p>
        </p:txBody>
      </p:sp>
      <p:sp>
        <p:nvSpPr>
          <p:cNvPr id="5" name="Text 3"/>
          <p:cNvSpPr/>
          <p:nvPr/>
        </p:nvSpPr>
        <p:spPr>
          <a:xfrm>
            <a:off x="457200" y="1371600"/>
            <a:ext cx="5486400" cy="365760"/>
          </a:xfrm>
          <a:prstGeom prst="rect">
            <a:avLst/>
          </a:prstGeom>
          <a:noFill/>
          <a:ln/>
        </p:spPr>
        <p:txBody>
          <a:bodyPr wrap="square" lIns="0" tIns="0" rIns="0" bIns="0" rtlCol="0" anchor="ctr"/>
          <a:lstStyle/>
          <a:p>
            <a:pPr indent="0" marL="0">
              <a:buNone/>
            </a:pPr>
            <a:r>
              <a:rPr lang="en-US" sz="1500" b="1" dirty="0">
                <a:solidFill>
                  <a:srgbClr val="00D2A0"/>
                </a:solidFill>
                <a:latin typeface="Cambria" pitchFamily="34" charset="0"/>
                <a:ea typeface="Cambria" pitchFamily="34" charset="-122"/>
                <a:cs typeface="Cambria" pitchFamily="34" charset="-120"/>
              </a:rPr>
              <a:t>KPIs that require more than one source</a:t>
            </a:r>
            <a:endParaRPr lang="en-US" sz="1500" dirty="0"/>
          </a:p>
        </p:txBody>
      </p:sp>
      <p:sp>
        <p:nvSpPr>
          <p:cNvPr id="6" name="Shape 4"/>
          <p:cNvSpPr/>
          <p:nvPr/>
        </p:nvSpPr>
        <p:spPr>
          <a:xfrm>
            <a:off x="457200" y="1874520"/>
            <a:ext cx="5486400" cy="777240"/>
          </a:xfrm>
          <a:prstGeom prst="roundRect">
            <a:avLst>
              <a:gd name="adj" fmla="val 9412"/>
            </a:avLst>
          </a:prstGeom>
          <a:solidFill>
            <a:srgbClr val="2A1B54"/>
          </a:solidFill>
          <a:ln/>
        </p:spPr>
      </p:sp>
      <p:sp>
        <p:nvSpPr>
          <p:cNvPr id="7" name="Text 5"/>
          <p:cNvSpPr/>
          <p:nvPr/>
        </p:nvSpPr>
        <p:spPr>
          <a:xfrm>
            <a:off x="685800" y="1965960"/>
            <a:ext cx="5029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Goal Compliance Percentage</a:t>
            </a:r>
            <a:endParaRPr lang="en-US" sz="1300" dirty="0"/>
          </a:p>
        </p:txBody>
      </p:sp>
      <p:sp>
        <p:nvSpPr>
          <p:cNvPr id="8" name="Text 6"/>
          <p:cNvSpPr/>
          <p:nvPr/>
        </p:nvSpPr>
        <p:spPr>
          <a:xfrm>
            <a:off x="685800" y="2258568"/>
            <a:ext cx="502920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POS System + Commercial Goals System</a:t>
            </a:r>
            <a:endParaRPr lang="en-US" sz="1150" dirty="0"/>
          </a:p>
        </p:txBody>
      </p:sp>
      <p:sp>
        <p:nvSpPr>
          <p:cNvPr id="9" name="Shape 7"/>
          <p:cNvSpPr/>
          <p:nvPr/>
        </p:nvSpPr>
        <p:spPr>
          <a:xfrm>
            <a:off x="457200" y="2788920"/>
            <a:ext cx="5486400" cy="777240"/>
          </a:xfrm>
          <a:prstGeom prst="roundRect">
            <a:avLst>
              <a:gd name="adj" fmla="val 9412"/>
            </a:avLst>
          </a:prstGeom>
          <a:solidFill>
            <a:srgbClr val="2A1B54"/>
          </a:solidFill>
          <a:ln/>
        </p:spPr>
      </p:sp>
      <p:sp>
        <p:nvSpPr>
          <p:cNvPr id="10" name="Text 8"/>
          <p:cNvSpPr/>
          <p:nvPr/>
        </p:nvSpPr>
        <p:spPr>
          <a:xfrm>
            <a:off x="685800" y="2880360"/>
            <a:ext cx="502920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Sales Increase by Promotion</a:t>
            </a:r>
            <a:endParaRPr lang="en-US" sz="1300" dirty="0"/>
          </a:p>
        </p:txBody>
      </p:sp>
      <p:sp>
        <p:nvSpPr>
          <p:cNvPr id="11" name="Text 9"/>
          <p:cNvSpPr/>
          <p:nvPr/>
        </p:nvSpPr>
        <p:spPr>
          <a:xfrm>
            <a:off x="685800" y="3172968"/>
            <a:ext cx="5029200" cy="320040"/>
          </a:xfrm>
          <a:prstGeom prst="rect">
            <a:avLst/>
          </a:prstGeom>
          <a:noFill/>
          <a:ln/>
        </p:spPr>
        <p:txBody>
          <a:bodyPr wrap="square" lIns="0" tIns="0" rIns="0" bIns="0" rtlCol="0" anchor="ctr"/>
          <a:lstStyle/>
          <a:p>
            <a:pPr indent="0" marL="0">
              <a:buNone/>
            </a:pPr>
            <a:r>
              <a:rPr lang="en-US" sz="1150" dirty="0">
                <a:solidFill>
                  <a:srgbClr val="C9BEEA"/>
                </a:solidFill>
                <a:latin typeface="Calibri" pitchFamily="34" charset="0"/>
                <a:ea typeface="Calibri" pitchFamily="34" charset="-122"/>
                <a:cs typeface="Calibri" pitchFamily="34" charset="-120"/>
              </a:rPr>
              <a:t>POS System + Promotion System</a:t>
            </a:r>
            <a:endParaRPr lang="en-US" sz="1150" dirty="0"/>
          </a:p>
        </p:txBody>
      </p:sp>
      <p:sp>
        <p:nvSpPr>
          <p:cNvPr id="12" name="Shape 10"/>
          <p:cNvSpPr/>
          <p:nvPr/>
        </p:nvSpPr>
        <p:spPr>
          <a:xfrm>
            <a:off x="6309360" y="1371600"/>
            <a:ext cx="5422392" cy="4709160"/>
          </a:xfrm>
          <a:prstGeom prst="roundRect">
            <a:avLst>
              <a:gd name="adj" fmla="val 2330"/>
            </a:avLst>
          </a:prstGeom>
          <a:solidFill>
            <a:srgbClr val="2A1B54"/>
          </a:solidFill>
          <a:ln/>
        </p:spPr>
      </p:sp>
      <p:sp>
        <p:nvSpPr>
          <p:cNvPr id="13" name="Text 11"/>
          <p:cNvSpPr/>
          <p:nvPr/>
        </p:nvSpPr>
        <p:spPr>
          <a:xfrm>
            <a:off x="6629400" y="1645920"/>
            <a:ext cx="4846320" cy="548640"/>
          </a:xfrm>
          <a:prstGeom prst="rect">
            <a:avLst/>
          </a:prstGeom>
          <a:noFill/>
          <a:ln/>
        </p:spPr>
        <p:txBody>
          <a:bodyPr wrap="square" lIns="0" tIns="0" rIns="0" bIns="0" rtlCol="0" anchor="ctr"/>
          <a:lstStyle/>
          <a:p>
            <a:pPr indent="0" marL="0">
              <a:buNone/>
            </a:pPr>
            <a:r>
              <a:rPr lang="en-US" sz="1500" b="1" dirty="0">
                <a:solidFill>
                  <a:srgbClr val="00D2A0"/>
                </a:solidFill>
                <a:latin typeface="Cambria" pitchFamily="34" charset="0"/>
                <a:ea typeface="Cambria" pitchFamily="34" charset="-122"/>
                <a:cs typeface="Cambria" pitchFamily="34" charset="-120"/>
              </a:rPr>
              <a:t>The Hardest KPI: Sales Increase by Promotion</a:t>
            </a:r>
            <a:endParaRPr lang="en-US" sz="1500" dirty="0"/>
          </a:p>
        </p:txBody>
      </p:sp>
      <p:sp>
        <p:nvSpPr>
          <p:cNvPr id="14" name="Text 12"/>
          <p:cNvSpPr/>
          <p:nvPr/>
        </p:nvSpPr>
        <p:spPr>
          <a:xfrm>
            <a:off x="6629400" y="2331720"/>
            <a:ext cx="4846320" cy="3566160"/>
          </a:xfrm>
          <a:prstGeom prst="rect">
            <a:avLst/>
          </a:prstGeom>
          <a:noFill/>
          <a:ln/>
        </p:spPr>
        <p:txBody>
          <a:bodyPr wrap="square" lIns="0" tIns="0" rIns="0" bIns="0" rtlCol="0" anchor="ctr"/>
          <a:lstStyle/>
          <a:p>
            <a:pPr marL="342900" indent="-342900">
              <a:spcAft>
                <a:spcPts val="1200"/>
              </a:spcAft>
              <a:buSzPct val="100000"/>
              <a:buChar char="▪"/>
            </a:pPr>
            <a:r>
              <a:rPr lang="en-US" sz="1300" dirty="0">
                <a:solidFill>
                  <a:srgbClr val="E7E1F5"/>
                </a:solidFill>
                <a:latin typeface="Calibri" pitchFamily="34" charset="0"/>
                <a:ea typeface="Calibri" pitchFamily="34" charset="-122"/>
                <a:cs typeface="Calibri" pitchFamily="34" charset="-120"/>
              </a:rPr>
              <a:t>Integrates sales and promotion data from different systems</a:t>
            </a:r>
            <a:endParaRPr lang="en-US" sz="1300" dirty="0"/>
          </a:p>
          <a:p>
            <a:pPr marL="342900" indent="-342900">
              <a:spcAft>
                <a:spcPts val="1200"/>
              </a:spcAft>
              <a:buSzPct val="100000"/>
              <a:buChar char="▪"/>
            </a:pPr>
            <a:r>
              <a:rPr lang="en-US" sz="1300" dirty="0">
                <a:solidFill>
                  <a:srgbClr val="E7E1F5"/>
                </a:solidFill>
                <a:latin typeface="Calibri" pitchFamily="34" charset="0"/>
                <a:ea typeface="Calibri" pitchFamily="34" charset="-122"/>
                <a:cs typeface="Calibri" pitchFamily="34" charset="-120"/>
              </a:rPr>
              <a:t>Each promotion must be related to product, store, and date</a:t>
            </a:r>
            <a:endParaRPr lang="en-US" sz="1300" dirty="0"/>
          </a:p>
          <a:p>
            <a:pPr marL="342900" indent="-342900">
              <a:spcAft>
                <a:spcPts val="1200"/>
              </a:spcAft>
              <a:buSzPct val="100000"/>
              <a:buChar char="▪"/>
            </a:pPr>
            <a:r>
              <a:rPr lang="en-US" sz="1300" dirty="0">
                <a:solidFill>
                  <a:srgbClr val="E7E1F5"/>
                </a:solidFill>
                <a:latin typeface="Calibri" pitchFamily="34" charset="0"/>
                <a:ea typeface="Calibri" pitchFamily="34" charset="-122"/>
                <a:cs typeface="Calibri" pitchFamily="34" charset="-120"/>
              </a:rPr>
              <a:t>Requires comparing sales before, during, and after each campaign</a:t>
            </a:r>
            <a:endParaRPr lang="en-US" sz="1300" dirty="0"/>
          </a:p>
          <a:p>
            <a:pPr marL="342900" indent="-342900">
              <a:spcAft>
                <a:spcPts val="1200"/>
              </a:spcAft>
              <a:buSzPct val="100000"/>
              <a:buChar char="▪"/>
            </a:pPr>
            <a:r>
              <a:rPr lang="en-US" sz="1300" dirty="0">
                <a:solidFill>
                  <a:srgbClr val="E7E1F5"/>
                </a:solidFill>
                <a:latin typeface="Calibri" pitchFamily="34" charset="0"/>
                <a:ea typeface="Calibri" pitchFamily="34" charset="-122"/>
                <a:cs typeface="Calibri" pitchFamily="34" charset="-120"/>
              </a:rPr>
              <a:t>Attribution risk: must not confuse the effect with seasonality or other simultaneous campaigns</a:t>
            </a:r>
            <a:endParaRPr lang="en-US" sz="1300" dirty="0"/>
          </a:p>
        </p:txBody>
      </p:sp>
      <p:sp>
        <p:nvSpPr>
          <p:cNvPr id="15" name="Text 13"/>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C9BEEA"/>
                </a:solidFill>
                <a:latin typeface="Calibri" pitchFamily="34" charset="0"/>
                <a:ea typeface="Calibri" pitchFamily="34" charset="-122"/>
                <a:cs typeface="Calibri" pitchFamily="34" charset="-120"/>
              </a:rPr>
              <a:t>ETL G01 · Lab 1A · Retail Sales Dashboard</a:t>
            </a:r>
            <a:endParaRPr lang="en-US" sz="900" dirty="0"/>
          </a:p>
        </p:txBody>
      </p:sp>
      <p:sp>
        <p:nvSpPr>
          <p:cNvPr id="16" name="Text 14"/>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C9BEEA"/>
                </a:solidFill>
                <a:latin typeface="Calibri" pitchFamily="34" charset="0"/>
                <a:ea typeface="Calibri" pitchFamily="34" charset="-122"/>
                <a:cs typeface="Calibri" pitchFamily="34" charset="-120"/>
              </a:rPr>
              <a:t>09 / 12</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7</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Dashboard Wireframe</a:t>
            </a:r>
            <a:endParaRPr lang="en-US" sz="2600" dirty="0"/>
          </a:p>
        </p:txBody>
      </p:sp>
      <p:sp>
        <p:nvSpPr>
          <p:cNvPr id="5" name="Shape 3"/>
          <p:cNvSpPr/>
          <p:nvPr/>
        </p:nvSpPr>
        <p:spPr>
          <a:xfrm>
            <a:off x="457200" y="1371600"/>
            <a:ext cx="11274552" cy="502920"/>
          </a:xfrm>
          <a:prstGeom prst="roundRect">
            <a:avLst>
              <a:gd name="adj" fmla="val 14545"/>
            </a:avLst>
          </a:prstGeom>
          <a:solidFill>
            <a:srgbClr val="FFFFFF"/>
          </a:solidFill>
          <a:ln w="12700">
            <a:solidFill>
              <a:srgbClr val="D8CFF0"/>
            </a:solidFill>
            <a:prstDash val="solid"/>
          </a:ln>
        </p:spPr>
      </p:sp>
      <p:sp>
        <p:nvSpPr>
          <p:cNvPr id="6" name="Shape 4"/>
          <p:cNvSpPr/>
          <p:nvPr/>
        </p:nvSpPr>
        <p:spPr>
          <a:xfrm>
            <a:off x="640080" y="1463040"/>
            <a:ext cx="1417320" cy="320040"/>
          </a:xfrm>
          <a:prstGeom prst="roundRect">
            <a:avLst>
              <a:gd name="adj" fmla="val 48571"/>
            </a:avLst>
          </a:prstGeom>
          <a:solidFill>
            <a:srgbClr val="EEE9F8"/>
          </a:solidFill>
          <a:ln w="9525">
            <a:solidFill>
              <a:srgbClr val="7B5AC4"/>
            </a:solidFill>
            <a:prstDash val="solid"/>
          </a:ln>
        </p:spPr>
      </p:sp>
      <p:sp>
        <p:nvSpPr>
          <p:cNvPr id="7" name="Text 5"/>
          <p:cNvSpPr/>
          <p:nvPr/>
        </p:nvSpPr>
        <p:spPr>
          <a:xfrm>
            <a:off x="640080" y="1463040"/>
            <a:ext cx="1417320" cy="320040"/>
          </a:xfrm>
          <a:prstGeom prst="rect">
            <a:avLst/>
          </a:prstGeom>
          <a:noFill/>
          <a:ln/>
        </p:spPr>
        <p:txBody>
          <a:bodyPr wrap="square" lIns="0" tIns="0" rIns="0" bIns="0" rtlCol="0" anchor="ctr"/>
          <a:lstStyle/>
          <a:p>
            <a:pPr algn="ctr" indent="0" marL="0">
              <a:buNone/>
            </a:pPr>
            <a:r>
              <a:rPr lang="en-US" sz="1050" dirty="0">
                <a:solidFill>
                  <a:srgbClr val="4B2E93"/>
                </a:solidFill>
                <a:latin typeface="Calibri" pitchFamily="34" charset="0"/>
                <a:ea typeface="Calibri" pitchFamily="34" charset="-122"/>
                <a:cs typeface="Calibri" pitchFamily="34" charset="-120"/>
              </a:rPr>
              <a:t>Region ▾</a:t>
            </a:r>
            <a:endParaRPr lang="en-US" sz="1050" dirty="0"/>
          </a:p>
        </p:txBody>
      </p:sp>
      <p:sp>
        <p:nvSpPr>
          <p:cNvPr id="8" name="Shape 6"/>
          <p:cNvSpPr/>
          <p:nvPr/>
        </p:nvSpPr>
        <p:spPr>
          <a:xfrm>
            <a:off x="2194560" y="1463040"/>
            <a:ext cx="1417320" cy="320040"/>
          </a:xfrm>
          <a:prstGeom prst="roundRect">
            <a:avLst>
              <a:gd name="adj" fmla="val 48571"/>
            </a:avLst>
          </a:prstGeom>
          <a:solidFill>
            <a:srgbClr val="EEE9F8"/>
          </a:solidFill>
          <a:ln w="9525">
            <a:solidFill>
              <a:srgbClr val="7B5AC4"/>
            </a:solidFill>
            <a:prstDash val="solid"/>
          </a:ln>
        </p:spPr>
      </p:sp>
      <p:sp>
        <p:nvSpPr>
          <p:cNvPr id="9" name="Text 7"/>
          <p:cNvSpPr/>
          <p:nvPr/>
        </p:nvSpPr>
        <p:spPr>
          <a:xfrm>
            <a:off x="2194560" y="1463040"/>
            <a:ext cx="1417320" cy="320040"/>
          </a:xfrm>
          <a:prstGeom prst="rect">
            <a:avLst/>
          </a:prstGeom>
          <a:noFill/>
          <a:ln/>
        </p:spPr>
        <p:txBody>
          <a:bodyPr wrap="square" lIns="0" tIns="0" rIns="0" bIns="0" rtlCol="0" anchor="ctr"/>
          <a:lstStyle/>
          <a:p>
            <a:pPr algn="ctr" indent="0" marL="0">
              <a:buNone/>
            </a:pPr>
            <a:r>
              <a:rPr lang="en-US" sz="1050" dirty="0">
                <a:solidFill>
                  <a:srgbClr val="4B2E93"/>
                </a:solidFill>
                <a:latin typeface="Calibri" pitchFamily="34" charset="0"/>
                <a:ea typeface="Calibri" pitchFamily="34" charset="-122"/>
                <a:cs typeface="Calibri" pitchFamily="34" charset="-120"/>
              </a:rPr>
              <a:t>Store ▾</a:t>
            </a:r>
            <a:endParaRPr lang="en-US" sz="1050" dirty="0"/>
          </a:p>
        </p:txBody>
      </p:sp>
      <p:sp>
        <p:nvSpPr>
          <p:cNvPr id="10" name="Shape 8"/>
          <p:cNvSpPr/>
          <p:nvPr/>
        </p:nvSpPr>
        <p:spPr>
          <a:xfrm>
            <a:off x="3749040" y="1463040"/>
            <a:ext cx="1417320" cy="320040"/>
          </a:xfrm>
          <a:prstGeom prst="roundRect">
            <a:avLst>
              <a:gd name="adj" fmla="val 48571"/>
            </a:avLst>
          </a:prstGeom>
          <a:solidFill>
            <a:srgbClr val="EEE9F8"/>
          </a:solidFill>
          <a:ln w="9525">
            <a:solidFill>
              <a:srgbClr val="7B5AC4"/>
            </a:solidFill>
            <a:prstDash val="solid"/>
          </a:ln>
        </p:spPr>
      </p:sp>
      <p:sp>
        <p:nvSpPr>
          <p:cNvPr id="11" name="Text 9"/>
          <p:cNvSpPr/>
          <p:nvPr/>
        </p:nvSpPr>
        <p:spPr>
          <a:xfrm>
            <a:off x="3749040" y="1463040"/>
            <a:ext cx="1417320" cy="320040"/>
          </a:xfrm>
          <a:prstGeom prst="rect">
            <a:avLst/>
          </a:prstGeom>
          <a:noFill/>
          <a:ln/>
        </p:spPr>
        <p:txBody>
          <a:bodyPr wrap="square" lIns="0" tIns="0" rIns="0" bIns="0" rtlCol="0" anchor="ctr"/>
          <a:lstStyle/>
          <a:p>
            <a:pPr algn="ctr" indent="0" marL="0">
              <a:buNone/>
            </a:pPr>
            <a:r>
              <a:rPr lang="en-US" sz="1050" dirty="0">
                <a:solidFill>
                  <a:srgbClr val="4B2E93"/>
                </a:solidFill>
                <a:latin typeface="Calibri" pitchFamily="34" charset="0"/>
                <a:ea typeface="Calibri" pitchFamily="34" charset="-122"/>
                <a:cs typeface="Calibri" pitchFamily="34" charset="-120"/>
              </a:rPr>
              <a:t>Category ▾</a:t>
            </a:r>
            <a:endParaRPr lang="en-US" sz="1050" dirty="0"/>
          </a:p>
        </p:txBody>
      </p:sp>
      <p:sp>
        <p:nvSpPr>
          <p:cNvPr id="12" name="Shape 10"/>
          <p:cNvSpPr/>
          <p:nvPr/>
        </p:nvSpPr>
        <p:spPr>
          <a:xfrm>
            <a:off x="5303520" y="1463040"/>
            <a:ext cx="1417320" cy="320040"/>
          </a:xfrm>
          <a:prstGeom prst="roundRect">
            <a:avLst>
              <a:gd name="adj" fmla="val 48571"/>
            </a:avLst>
          </a:prstGeom>
          <a:solidFill>
            <a:srgbClr val="EEE9F8"/>
          </a:solidFill>
          <a:ln w="9525">
            <a:solidFill>
              <a:srgbClr val="7B5AC4"/>
            </a:solidFill>
            <a:prstDash val="solid"/>
          </a:ln>
        </p:spPr>
      </p:sp>
      <p:sp>
        <p:nvSpPr>
          <p:cNvPr id="13" name="Text 11"/>
          <p:cNvSpPr/>
          <p:nvPr/>
        </p:nvSpPr>
        <p:spPr>
          <a:xfrm>
            <a:off x="5303520" y="1463040"/>
            <a:ext cx="1417320" cy="320040"/>
          </a:xfrm>
          <a:prstGeom prst="rect">
            <a:avLst/>
          </a:prstGeom>
          <a:noFill/>
          <a:ln/>
        </p:spPr>
        <p:txBody>
          <a:bodyPr wrap="square" lIns="0" tIns="0" rIns="0" bIns="0" rtlCol="0" anchor="ctr"/>
          <a:lstStyle/>
          <a:p>
            <a:pPr algn="ctr" indent="0" marL="0">
              <a:buNone/>
            </a:pPr>
            <a:r>
              <a:rPr lang="en-US" sz="1050" dirty="0">
                <a:solidFill>
                  <a:srgbClr val="4B2E93"/>
                </a:solidFill>
                <a:latin typeface="Calibri" pitchFamily="34" charset="0"/>
                <a:ea typeface="Calibri" pitchFamily="34" charset="-122"/>
                <a:cs typeface="Calibri" pitchFamily="34" charset="-120"/>
              </a:rPr>
              <a:t>Period ▾</a:t>
            </a:r>
            <a:endParaRPr lang="en-US" sz="1050" dirty="0"/>
          </a:p>
        </p:txBody>
      </p:sp>
      <p:sp>
        <p:nvSpPr>
          <p:cNvPr id="14" name="Shape 12"/>
          <p:cNvSpPr/>
          <p:nvPr/>
        </p:nvSpPr>
        <p:spPr>
          <a:xfrm>
            <a:off x="6858000" y="1463040"/>
            <a:ext cx="1417320" cy="320040"/>
          </a:xfrm>
          <a:prstGeom prst="roundRect">
            <a:avLst>
              <a:gd name="adj" fmla="val 48571"/>
            </a:avLst>
          </a:prstGeom>
          <a:solidFill>
            <a:srgbClr val="EEE9F8"/>
          </a:solidFill>
          <a:ln w="9525">
            <a:solidFill>
              <a:srgbClr val="7B5AC4"/>
            </a:solidFill>
            <a:prstDash val="solid"/>
          </a:ln>
        </p:spPr>
      </p:sp>
      <p:sp>
        <p:nvSpPr>
          <p:cNvPr id="15" name="Text 13"/>
          <p:cNvSpPr/>
          <p:nvPr/>
        </p:nvSpPr>
        <p:spPr>
          <a:xfrm>
            <a:off x="6858000" y="1463040"/>
            <a:ext cx="1417320" cy="320040"/>
          </a:xfrm>
          <a:prstGeom prst="rect">
            <a:avLst/>
          </a:prstGeom>
          <a:noFill/>
          <a:ln/>
        </p:spPr>
        <p:txBody>
          <a:bodyPr wrap="square" lIns="0" tIns="0" rIns="0" bIns="0" rtlCol="0" anchor="ctr"/>
          <a:lstStyle/>
          <a:p>
            <a:pPr algn="ctr" indent="0" marL="0">
              <a:buNone/>
            </a:pPr>
            <a:r>
              <a:rPr lang="en-US" sz="1050" dirty="0">
                <a:solidFill>
                  <a:srgbClr val="4B2E93"/>
                </a:solidFill>
                <a:latin typeface="Calibri" pitchFamily="34" charset="0"/>
                <a:ea typeface="Calibri" pitchFamily="34" charset="-122"/>
                <a:cs typeface="Calibri" pitchFamily="34" charset="-120"/>
              </a:rPr>
              <a:t>Promotion ▾</a:t>
            </a:r>
            <a:endParaRPr lang="en-US" sz="1050" dirty="0"/>
          </a:p>
        </p:txBody>
      </p:sp>
      <p:sp>
        <p:nvSpPr>
          <p:cNvPr id="16" name="Shape 14"/>
          <p:cNvSpPr/>
          <p:nvPr/>
        </p:nvSpPr>
        <p:spPr>
          <a:xfrm>
            <a:off x="457200" y="2057400"/>
            <a:ext cx="2715768" cy="868680"/>
          </a:xfrm>
          <a:prstGeom prst="roundRect">
            <a:avLst>
              <a:gd name="adj" fmla="val 8421"/>
            </a:avLst>
          </a:prstGeom>
          <a:solidFill>
            <a:srgbClr val="4B2E93"/>
          </a:solidFill>
          <a:ln/>
        </p:spPr>
      </p:sp>
      <p:sp>
        <p:nvSpPr>
          <p:cNvPr id="17" name="Text 15"/>
          <p:cNvSpPr/>
          <p:nvPr/>
        </p:nvSpPr>
        <p:spPr>
          <a:xfrm>
            <a:off x="457200" y="2130552"/>
            <a:ext cx="2715768"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$1,250,000</a:t>
            </a:r>
            <a:endParaRPr lang="en-US" sz="2000" dirty="0"/>
          </a:p>
        </p:txBody>
      </p:sp>
      <p:sp>
        <p:nvSpPr>
          <p:cNvPr id="18" name="Text 16"/>
          <p:cNvSpPr/>
          <p:nvPr/>
        </p:nvSpPr>
        <p:spPr>
          <a:xfrm>
            <a:off x="457200" y="2587752"/>
            <a:ext cx="2715768" cy="274320"/>
          </a:xfrm>
          <a:prstGeom prst="rect">
            <a:avLst/>
          </a:prstGeom>
          <a:noFill/>
          <a:ln/>
        </p:spPr>
        <p:txBody>
          <a:bodyPr wrap="square" lIns="0" tIns="0" rIns="0" bIns="0" rtlCol="0" anchor="ctr"/>
          <a:lstStyle/>
          <a:p>
            <a:pPr algn="ctr" indent="0" marL="0">
              <a:buNone/>
            </a:pPr>
            <a:r>
              <a:rPr lang="en-US" sz="1050" dirty="0">
                <a:solidFill>
                  <a:srgbClr val="D8CFF0"/>
                </a:solidFill>
                <a:latin typeface="Calibri" pitchFamily="34" charset="0"/>
                <a:ea typeface="Calibri" pitchFamily="34" charset="-122"/>
                <a:cs typeface="Calibri" pitchFamily="34" charset="-120"/>
              </a:rPr>
              <a:t>Total Sales</a:t>
            </a:r>
            <a:endParaRPr lang="en-US" sz="1050" dirty="0"/>
          </a:p>
        </p:txBody>
      </p:sp>
      <p:sp>
        <p:nvSpPr>
          <p:cNvPr id="19" name="Shape 17"/>
          <p:cNvSpPr/>
          <p:nvPr/>
        </p:nvSpPr>
        <p:spPr>
          <a:xfrm>
            <a:off x="3310128" y="2057400"/>
            <a:ext cx="2715768" cy="868680"/>
          </a:xfrm>
          <a:prstGeom prst="roundRect">
            <a:avLst>
              <a:gd name="adj" fmla="val 8421"/>
            </a:avLst>
          </a:prstGeom>
          <a:solidFill>
            <a:srgbClr val="4B2E93"/>
          </a:solidFill>
          <a:ln/>
        </p:spPr>
      </p:sp>
      <p:sp>
        <p:nvSpPr>
          <p:cNvPr id="20" name="Text 18"/>
          <p:cNvSpPr/>
          <p:nvPr/>
        </p:nvSpPr>
        <p:spPr>
          <a:xfrm>
            <a:off x="3310128" y="2130552"/>
            <a:ext cx="2715768"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$82</a:t>
            </a:r>
            <a:endParaRPr lang="en-US" sz="2000" dirty="0"/>
          </a:p>
        </p:txBody>
      </p:sp>
      <p:sp>
        <p:nvSpPr>
          <p:cNvPr id="21" name="Text 19"/>
          <p:cNvSpPr/>
          <p:nvPr/>
        </p:nvSpPr>
        <p:spPr>
          <a:xfrm>
            <a:off x="3310128" y="2587752"/>
            <a:ext cx="2715768" cy="274320"/>
          </a:xfrm>
          <a:prstGeom prst="rect">
            <a:avLst/>
          </a:prstGeom>
          <a:noFill/>
          <a:ln/>
        </p:spPr>
        <p:txBody>
          <a:bodyPr wrap="square" lIns="0" tIns="0" rIns="0" bIns="0" rtlCol="0" anchor="ctr"/>
          <a:lstStyle/>
          <a:p>
            <a:pPr algn="ctr" indent="0" marL="0">
              <a:buNone/>
            </a:pPr>
            <a:r>
              <a:rPr lang="en-US" sz="1050" dirty="0">
                <a:solidFill>
                  <a:srgbClr val="D8CFF0"/>
                </a:solidFill>
                <a:latin typeface="Calibri" pitchFamily="34" charset="0"/>
                <a:ea typeface="Calibri" pitchFamily="34" charset="-122"/>
                <a:cs typeface="Calibri" pitchFamily="34" charset="-120"/>
              </a:rPr>
              <a:t>Avg. Order</a:t>
            </a:r>
            <a:endParaRPr lang="en-US" sz="1050" dirty="0"/>
          </a:p>
        </p:txBody>
      </p:sp>
      <p:sp>
        <p:nvSpPr>
          <p:cNvPr id="22" name="Shape 20"/>
          <p:cNvSpPr/>
          <p:nvPr/>
        </p:nvSpPr>
        <p:spPr>
          <a:xfrm>
            <a:off x="6163056" y="2057400"/>
            <a:ext cx="2715768" cy="868680"/>
          </a:xfrm>
          <a:prstGeom prst="roundRect">
            <a:avLst>
              <a:gd name="adj" fmla="val 8421"/>
            </a:avLst>
          </a:prstGeom>
          <a:solidFill>
            <a:srgbClr val="4B2E93"/>
          </a:solidFill>
          <a:ln/>
        </p:spPr>
      </p:sp>
      <p:sp>
        <p:nvSpPr>
          <p:cNvPr id="23" name="Text 21"/>
          <p:cNvSpPr/>
          <p:nvPr/>
        </p:nvSpPr>
        <p:spPr>
          <a:xfrm>
            <a:off x="6163056" y="2130552"/>
            <a:ext cx="2715768"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94%</a:t>
            </a:r>
            <a:endParaRPr lang="en-US" sz="2000" dirty="0"/>
          </a:p>
        </p:txBody>
      </p:sp>
      <p:sp>
        <p:nvSpPr>
          <p:cNvPr id="24" name="Text 22"/>
          <p:cNvSpPr/>
          <p:nvPr/>
        </p:nvSpPr>
        <p:spPr>
          <a:xfrm>
            <a:off x="6163056" y="2587752"/>
            <a:ext cx="2715768" cy="274320"/>
          </a:xfrm>
          <a:prstGeom prst="rect">
            <a:avLst/>
          </a:prstGeom>
          <a:noFill/>
          <a:ln/>
        </p:spPr>
        <p:txBody>
          <a:bodyPr wrap="square" lIns="0" tIns="0" rIns="0" bIns="0" rtlCol="0" anchor="ctr"/>
          <a:lstStyle/>
          <a:p>
            <a:pPr algn="ctr" indent="0" marL="0">
              <a:buNone/>
            </a:pPr>
            <a:r>
              <a:rPr lang="en-US" sz="1050" dirty="0">
                <a:solidFill>
                  <a:srgbClr val="D8CFF0"/>
                </a:solidFill>
                <a:latin typeface="Calibri" pitchFamily="34" charset="0"/>
                <a:ea typeface="Calibri" pitchFamily="34" charset="-122"/>
                <a:cs typeface="Calibri" pitchFamily="34" charset="-120"/>
              </a:rPr>
              <a:t>Goal Compliance</a:t>
            </a:r>
            <a:endParaRPr lang="en-US" sz="1050" dirty="0"/>
          </a:p>
        </p:txBody>
      </p:sp>
      <p:sp>
        <p:nvSpPr>
          <p:cNvPr id="25" name="Shape 23"/>
          <p:cNvSpPr/>
          <p:nvPr/>
        </p:nvSpPr>
        <p:spPr>
          <a:xfrm>
            <a:off x="9015984" y="2057400"/>
            <a:ext cx="2715768" cy="868680"/>
          </a:xfrm>
          <a:prstGeom prst="roundRect">
            <a:avLst>
              <a:gd name="adj" fmla="val 8421"/>
            </a:avLst>
          </a:prstGeom>
          <a:solidFill>
            <a:srgbClr val="4B2E93"/>
          </a:solidFill>
          <a:ln/>
        </p:spPr>
      </p:sp>
      <p:sp>
        <p:nvSpPr>
          <p:cNvPr id="26" name="Text 24"/>
          <p:cNvSpPr/>
          <p:nvPr/>
        </p:nvSpPr>
        <p:spPr>
          <a:xfrm>
            <a:off x="9015984" y="2130552"/>
            <a:ext cx="2715768"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+8.5%</a:t>
            </a:r>
            <a:endParaRPr lang="en-US" sz="2000" dirty="0"/>
          </a:p>
        </p:txBody>
      </p:sp>
      <p:sp>
        <p:nvSpPr>
          <p:cNvPr id="27" name="Text 25"/>
          <p:cNvSpPr/>
          <p:nvPr/>
        </p:nvSpPr>
        <p:spPr>
          <a:xfrm>
            <a:off x="9015984" y="2587752"/>
            <a:ext cx="2715768" cy="274320"/>
          </a:xfrm>
          <a:prstGeom prst="rect">
            <a:avLst/>
          </a:prstGeom>
          <a:noFill/>
          <a:ln/>
        </p:spPr>
        <p:txBody>
          <a:bodyPr wrap="square" lIns="0" tIns="0" rIns="0" bIns="0" rtlCol="0" anchor="ctr"/>
          <a:lstStyle/>
          <a:p>
            <a:pPr algn="ctr" indent="0" marL="0">
              <a:buNone/>
            </a:pPr>
            <a:r>
              <a:rPr lang="en-US" sz="1050" dirty="0">
                <a:solidFill>
                  <a:srgbClr val="D8CFF0"/>
                </a:solidFill>
                <a:latin typeface="Calibri" pitchFamily="34" charset="0"/>
                <a:ea typeface="Calibri" pitchFamily="34" charset="-122"/>
                <a:cs typeface="Calibri" pitchFamily="34" charset="-120"/>
              </a:rPr>
              <a:t>Growth</a:t>
            </a:r>
            <a:endParaRPr lang="en-US" sz="1050" dirty="0"/>
          </a:p>
        </p:txBody>
      </p:sp>
      <p:sp>
        <p:nvSpPr>
          <p:cNvPr id="28" name="Shape 26"/>
          <p:cNvSpPr/>
          <p:nvPr/>
        </p:nvSpPr>
        <p:spPr>
          <a:xfrm>
            <a:off x="457200" y="3108960"/>
            <a:ext cx="5568696" cy="1051560"/>
          </a:xfrm>
          <a:prstGeom prst="roundRect">
            <a:avLst>
              <a:gd name="adj" fmla="val 6957"/>
            </a:avLst>
          </a:prstGeom>
          <a:solidFill>
            <a:srgbClr val="FFFFFF"/>
          </a:solidFill>
          <a:ln w="12700">
            <a:solidFill>
              <a:srgbClr val="D8CFF0"/>
            </a:solidFill>
            <a:prstDash val="solid"/>
          </a:ln>
        </p:spPr>
      </p:sp>
      <p:sp>
        <p:nvSpPr>
          <p:cNvPr id="29" name="Text 27"/>
          <p:cNvSpPr/>
          <p:nvPr/>
        </p:nvSpPr>
        <p:spPr>
          <a:xfrm>
            <a:off x="457200" y="3108960"/>
            <a:ext cx="5568696" cy="1051560"/>
          </a:xfrm>
          <a:prstGeom prst="rect">
            <a:avLst/>
          </a:prstGeom>
          <a:noFill/>
          <a:ln/>
        </p:spPr>
        <p:txBody>
          <a:bodyPr wrap="square" lIns="0" tIns="0" rIns="0" bIns="0" rtlCol="0" anchor="ctr"/>
          <a:lstStyle/>
          <a:p>
            <a:pPr algn="ctr" indent="0" marL="0">
              <a:buNone/>
            </a:pPr>
            <a:r>
              <a:rPr lang="en-US" sz="1200" dirty="0">
                <a:solidFill>
                  <a:srgbClr val="685C82"/>
                </a:solidFill>
                <a:latin typeface="Calibri" pitchFamily="34" charset="0"/>
                <a:ea typeface="Calibri" pitchFamily="34" charset="-122"/>
                <a:cs typeface="Calibri" pitchFamily="34" charset="-120"/>
              </a:rPr>
              <a:t>Sales by Region  (Bar Chart)</a:t>
            </a:r>
            <a:endParaRPr lang="en-US" sz="1200" dirty="0"/>
          </a:p>
        </p:txBody>
      </p:sp>
      <p:sp>
        <p:nvSpPr>
          <p:cNvPr id="30" name="Shape 28"/>
          <p:cNvSpPr/>
          <p:nvPr/>
        </p:nvSpPr>
        <p:spPr>
          <a:xfrm>
            <a:off x="6163056" y="3108960"/>
            <a:ext cx="5568696" cy="1051560"/>
          </a:xfrm>
          <a:prstGeom prst="roundRect">
            <a:avLst>
              <a:gd name="adj" fmla="val 6957"/>
            </a:avLst>
          </a:prstGeom>
          <a:solidFill>
            <a:srgbClr val="FFFFFF"/>
          </a:solidFill>
          <a:ln w="12700">
            <a:solidFill>
              <a:srgbClr val="D8CFF0"/>
            </a:solidFill>
            <a:prstDash val="solid"/>
          </a:ln>
        </p:spPr>
      </p:sp>
      <p:sp>
        <p:nvSpPr>
          <p:cNvPr id="31" name="Text 29"/>
          <p:cNvSpPr/>
          <p:nvPr/>
        </p:nvSpPr>
        <p:spPr>
          <a:xfrm>
            <a:off x="6163056" y="3108960"/>
            <a:ext cx="5568696" cy="1051560"/>
          </a:xfrm>
          <a:prstGeom prst="rect">
            <a:avLst/>
          </a:prstGeom>
          <a:noFill/>
          <a:ln/>
        </p:spPr>
        <p:txBody>
          <a:bodyPr wrap="square" lIns="0" tIns="0" rIns="0" bIns="0" rtlCol="0" anchor="ctr"/>
          <a:lstStyle/>
          <a:p>
            <a:pPr algn="ctr" indent="0" marL="0">
              <a:buNone/>
            </a:pPr>
            <a:r>
              <a:rPr lang="en-US" sz="1200" dirty="0">
                <a:solidFill>
                  <a:srgbClr val="685C82"/>
                </a:solidFill>
                <a:latin typeface="Calibri" pitchFamily="34" charset="0"/>
                <a:ea typeface="Calibri" pitchFamily="34" charset="-122"/>
                <a:cs typeface="Calibri" pitchFamily="34" charset="-120"/>
              </a:rPr>
              <a:t>Sales by Category  (Bar Chart)</a:t>
            </a:r>
            <a:endParaRPr lang="en-US" sz="1200" dirty="0"/>
          </a:p>
        </p:txBody>
      </p:sp>
      <p:sp>
        <p:nvSpPr>
          <p:cNvPr id="32" name="Shape 30"/>
          <p:cNvSpPr/>
          <p:nvPr/>
        </p:nvSpPr>
        <p:spPr>
          <a:xfrm>
            <a:off x="457200" y="4297680"/>
            <a:ext cx="5568696" cy="1051560"/>
          </a:xfrm>
          <a:prstGeom prst="roundRect">
            <a:avLst>
              <a:gd name="adj" fmla="val 6957"/>
            </a:avLst>
          </a:prstGeom>
          <a:solidFill>
            <a:srgbClr val="FFFFFF"/>
          </a:solidFill>
          <a:ln w="12700">
            <a:solidFill>
              <a:srgbClr val="D8CFF0"/>
            </a:solidFill>
            <a:prstDash val="solid"/>
          </a:ln>
        </p:spPr>
      </p:sp>
      <p:sp>
        <p:nvSpPr>
          <p:cNvPr id="33" name="Text 31"/>
          <p:cNvSpPr/>
          <p:nvPr/>
        </p:nvSpPr>
        <p:spPr>
          <a:xfrm>
            <a:off x="457200" y="4297680"/>
            <a:ext cx="5568696" cy="1051560"/>
          </a:xfrm>
          <a:prstGeom prst="rect">
            <a:avLst/>
          </a:prstGeom>
          <a:noFill/>
          <a:ln/>
        </p:spPr>
        <p:txBody>
          <a:bodyPr wrap="square" lIns="0" tIns="0" rIns="0" bIns="0" rtlCol="0" anchor="ctr"/>
          <a:lstStyle/>
          <a:p>
            <a:pPr algn="ctr" indent="0" marL="0">
              <a:buNone/>
            </a:pPr>
            <a:r>
              <a:rPr lang="en-US" sz="1200" dirty="0">
                <a:solidFill>
                  <a:srgbClr val="685C82"/>
                </a:solidFill>
                <a:latin typeface="Calibri" pitchFamily="34" charset="0"/>
                <a:ea typeface="Calibri" pitchFamily="34" charset="-122"/>
                <a:cs typeface="Calibri" pitchFamily="34" charset="-120"/>
              </a:rPr>
              <a:t>Sales Trend  (Line Chart)</a:t>
            </a:r>
            <a:endParaRPr lang="en-US" sz="1200" dirty="0"/>
          </a:p>
        </p:txBody>
      </p:sp>
      <p:sp>
        <p:nvSpPr>
          <p:cNvPr id="34" name="Shape 32"/>
          <p:cNvSpPr/>
          <p:nvPr/>
        </p:nvSpPr>
        <p:spPr>
          <a:xfrm>
            <a:off x="6163056" y="4297680"/>
            <a:ext cx="5568696" cy="1051560"/>
          </a:xfrm>
          <a:prstGeom prst="roundRect">
            <a:avLst>
              <a:gd name="adj" fmla="val 6957"/>
            </a:avLst>
          </a:prstGeom>
          <a:solidFill>
            <a:srgbClr val="FFFFFF"/>
          </a:solidFill>
          <a:ln w="12700">
            <a:solidFill>
              <a:srgbClr val="D8CFF0"/>
            </a:solidFill>
            <a:prstDash val="solid"/>
          </a:ln>
        </p:spPr>
      </p:sp>
      <p:sp>
        <p:nvSpPr>
          <p:cNvPr id="35" name="Text 33"/>
          <p:cNvSpPr/>
          <p:nvPr/>
        </p:nvSpPr>
        <p:spPr>
          <a:xfrm>
            <a:off x="6163056" y="4297680"/>
            <a:ext cx="5568696" cy="1051560"/>
          </a:xfrm>
          <a:prstGeom prst="rect">
            <a:avLst/>
          </a:prstGeom>
          <a:noFill/>
          <a:ln/>
        </p:spPr>
        <p:txBody>
          <a:bodyPr wrap="square" lIns="0" tIns="0" rIns="0" bIns="0" rtlCol="0" anchor="ctr"/>
          <a:lstStyle/>
          <a:p>
            <a:pPr algn="ctr" indent="0" marL="0">
              <a:buNone/>
            </a:pPr>
            <a:r>
              <a:rPr lang="en-US" sz="1200" dirty="0">
                <a:solidFill>
                  <a:srgbClr val="685C82"/>
                </a:solidFill>
                <a:latin typeface="Calibri" pitchFamily="34" charset="0"/>
                <a:ea typeface="Calibri" pitchFamily="34" charset="-122"/>
                <a:cs typeface="Calibri" pitchFamily="34" charset="-120"/>
              </a:rPr>
              <a:t>Top 10 Products  (Bar Chart)</a:t>
            </a:r>
            <a:endParaRPr lang="en-US" sz="1200" dirty="0"/>
          </a:p>
        </p:txBody>
      </p:sp>
      <p:sp>
        <p:nvSpPr>
          <p:cNvPr id="36" name="Shape 34"/>
          <p:cNvSpPr/>
          <p:nvPr/>
        </p:nvSpPr>
        <p:spPr>
          <a:xfrm>
            <a:off x="457200" y="5486400"/>
            <a:ext cx="11274552" cy="502920"/>
          </a:xfrm>
          <a:prstGeom prst="roundRect">
            <a:avLst>
              <a:gd name="adj" fmla="val 14545"/>
            </a:avLst>
          </a:prstGeom>
          <a:solidFill>
            <a:srgbClr val="EEE9F8"/>
          </a:solidFill>
          <a:ln w="9525">
            <a:solidFill>
              <a:srgbClr val="7B5AC4"/>
            </a:solidFill>
            <a:prstDash val="solid"/>
          </a:ln>
        </p:spPr>
      </p:sp>
      <p:sp>
        <p:nvSpPr>
          <p:cNvPr id="37" name="Text 35"/>
          <p:cNvSpPr/>
          <p:nvPr/>
        </p:nvSpPr>
        <p:spPr>
          <a:xfrm>
            <a:off x="457200" y="5486400"/>
            <a:ext cx="11274552" cy="502920"/>
          </a:xfrm>
          <a:prstGeom prst="rect">
            <a:avLst/>
          </a:prstGeom>
          <a:noFill/>
          <a:ln/>
        </p:spPr>
        <p:txBody>
          <a:bodyPr wrap="square" lIns="0" tIns="0" rIns="0" bIns="0" rtlCol="0" anchor="ctr"/>
          <a:lstStyle/>
          <a:p>
            <a:pPr algn="ctr" indent="0" marL="0">
              <a:buNone/>
            </a:pPr>
            <a:r>
              <a:rPr lang="en-US" sz="1200" b="1" dirty="0">
                <a:solidFill>
                  <a:srgbClr val="4B2E93"/>
                </a:solidFill>
                <a:latin typeface="Calibri" pitchFamily="34" charset="0"/>
                <a:ea typeface="Calibri" pitchFamily="34" charset="-122"/>
                <a:cs typeface="Calibri" pitchFamily="34" charset="-120"/>
              </a:rPr>
              <a:t>Goal Compliance by Store  (Table / Bar Chart)</a:t>
            </a:r>
            <a:endParaRPr lang="en-US" sz="1200" dirty="0"/>
          </a:p>
        </p:txBody>
      </p:sp>
      <p:sp>
        <p:nvSpPr>
          <p:cNvPr id="38" name="Text 36"/>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39" name="Text 37"/>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10 / 12</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5FB"/>
        </a:solidFill>
      </p:bgPr>
    </p:bg>
    <p:spTree>
      <p:nvGrpSpPr>
        <p:cNvPr id="1" name=""/>
        <p:cNvGrpSpPr/>
        <p:nvPr/>
      </p:nvGrpSpPr>
      <p:grpSpPr>
        <a:xfrm>
          <a:off x="0" y="0"/>
          <a:ext cx="0" cy="0"/>
          <a:chOff x="0" y="0"/>
          <a:chExt cx="0" cy="0"/>
        </a:xfrm>
      </p:grpSpPr>
      <p:sp>
        <p:nvSpPr>
          <p:cNvPr id="2" name="Shape 0"/>
          <p:cNvSpPr/>
          <p:nvPr/>
        </p:nvSpPr>
        <p:spPr>
          <a:xfrm>
            <a:off x="457200" y="457200"/>
            <a:ext cx="502920" cy="502920"/>
          </a:xfrm>
          <a:prstGeom prst="ellipse">
            <a:avLst/>
          </a:prstGeom>
          <a:solidFill>
            <a:srgbClr val="4B2E93"/>
          </a:solidFill>
          <a:ln w="12700">
            <a:solidFill>
              <a:srgbClr val="4B2E93"/>
            </a:solidFill>
            <a:prstDash val="solid"/>
          </a:ln>
        </p:spPr>
      </p:sp>
      <p:sp>
        <p:nvSpPr>
          <p:cNvPr id="3" name="Text 1"/>
          <p:cNvSpPr/>
          <p:nvPr/>
        </p:nvSpPr>
        <p:spPr>
          <a:xfrm>
            <a:off x="457200" y="457200"/>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8</a:t>
            </a:r>
            <a:endParaRPr lang="en-US" sz="2000" dirty="0"/>
          </a:p>
        </p:txBody>
      </p:sp>
      <p:sp>
        <p:nvSpPr>
          <p:cNvPr id="4" name="Text 2"/>
          <p:cNvSpPr/>
          <p:nvPr/>
        </p:nvSpPr>
        <p:spPr>
          <a:xfrm>
            <a:off x="1143000" y="411480"/>
            <a:ext cx="10332720" cy="594360"/>
          </a:xfrm>
          <a:prstGeom prst="rect">
            <a:avLst/>
          </a:prstGeom>
          <a:noFill/>
          <a:ln/>
        </p:spPr>
        <p:txBody>
          <a:bodyPr wrap="square" lIns="0" tIns="0" rIns="0" bIns="0" rtlCol="0" anchor="ctr"/>
          <a:lstStyle/>
          <a:p>
            <a:pPr indent="0" marL="0">
              <a:buNone/>
            </a:pPr>
            <a:r>
              <a:rPr lang="en-US" sz="2600" b="1" dirty="0">
                <a:solidFill>
                  <a:srgbClr val="231942"/>
                </a:solidFill>
                <a:latin typeface="Cambria" pitchFamily="34" charset="0"/>
                <a:ea typeface="Cambria" pitchFamily="34" charset="-122"/>
                <a:cs typeface="Cambria" pitchFamily="34" charset="-120"/>
              </a:rPr>
              <a:t>From Requirements to ETL (Lab 1B)</a:t>
            </a:r>
            <a:endParaRPr lang="en-US" sz="2600" dirty="0"/>
          </a:p>
        </p:txBody>
      </p:sp>
      <p:sp>
        <p:nvSpPr>
          <p:cNvPr id="5" name="Shape 3"/>
          <p:cNvSpPr/>
          <p:nvPr/>
        </p:nvSpPr>
        <p:spPr>
          <a:xfrm>
            <a:off x="457200" y="1371600"/>
            <a:ext cx="3611880" cy="1371600"/>
          </a:xfrm>
          <a:prstGeom prst="roundRect">
            <a:avLst>
              <a:gd name="adj" fmla="val 6667"/>
            </a:avLst>
          </a:prstGeom>
          <a:solidFill>
            <a:srgbClr val="4B2E93"/>
          </a:solidFill>
          <a:ln/>
        </p:spPr>
      </p:sp>
      <p:sp>
        <p:nvSpPr>
          <p:cNvPr id="6" name="Text 4"/>
          <p:cNvSpPr/>
          <p:nvPr/>
        </p:nvSpPr>
        <p:spPr>
          <a:xfrm>
            <a:off x="685800" y="1508760"/>
            <a:ext cx="3154680" cy="365760"/>
          </a:xfrm>
          <a:prstGeom prst="rect">
            <a:avLst/>
          </a:prstGeom>
          <a:noFill/>
          <a:ln/>
        </p:spPr>
        <p:txBody>
          <a:bodyPr wrap="square" lIns="0" tIns="0" rIns="0" bIns="0" rtlCol="0" anchor="ctr"/>
          <a:lstStyle/>
          <a:p>
            <a:pPr indent="0" marL="0">
              <a:buNone/>
            </a:pPr>
            <a:r>
              <a:rPr lang="en-US" sz="1600" b="1" dirty="0">
                <a:solidFill>
                  <a:srgbClr val="00D2A0"/>
                </a:solidFill>
                <a:latin typeface="Cambria" pitchFamily="34" charset="0"/>
                <a:ea typeface="Cambria" pitchFamily="34" charset="-122"/>
                <a:cs typeface="Cambria" pitchFamily="34" charset="-120"/>
              </a:rPr>
              <a:t>EXTRACT</a:t>
            </a:r>
            <a:endParaRPr lang="en-US" sz="1600" dirty="0"/>
          </a:p>
        </p:txBody>
      </p:sp>
      <p:sp>
        <p:nvSpPr>
          <p:cNvPr id="7" name="Text 5"/>
          <p:cNvSpPr/>
          <p:nvPr/>
        </p:nvSpPr>
        <p:spPr>
          <a:xfrm>
            <a:off x="685800" y="1874520"/>
            <a:ext cx="3154680" cy="822960"/>
          </a:xfrm>
          <a:prstGeom prst="rect">
            <a:avLst/>
          </a:prstGeom>
          <a:noFill/>
          <a:ln/>
        </p:spPr>
        <p:txBody>
          <a:bodyPr wrap="square" lIns="0" tIns="0" rIns="0" bIns="0" rtlCol="0" anchor="ctr"/>
          <a:lstStyle/>
          <a:p>
            <a:pPr indent="0" marL="0">
              <a:buNone/>
            </a:pPr>
            <a:r>
              <a:rPr lang="en-US" sz="1100" dirty="0">
                <a:solidFill>
                  <a:srgbClr val="EAE3F8"/>
                </a:solidFill>
                <a:latin typeface="Calibri" pitchFamily="34" charset="0"/>
                <a:ea typeface="Calibri" pitchFamily="34" charset="-122"/>
                <a:cs typeface="Calibri" pitchFamily="34" charset="-120"/>
              </a:rPr>
              <a:t>Retrieve data from the POS System, Product Catalog, Store Catalog, Promotion System, and Commercial Goals System.</a:t>
            </a:r>
            <a:endParaRPr lang="en-US" sz="1100" dirty="0"/>
          </a:p>
        </p:txBody>
      </p:sp>
      <p:sp>
        <p:nvSpPr>
          <p:cNvPr id="8" name="Text 6"/>
          <p:cNvSpPr/>
          <p:nvPr/>
        </p:nvSpPr>
        <p:spPr>
          <a:xfrm>
            <a:off x="4069080" y="1737360"/>
            <a:ext cx="192024" cy="731520"/>
          </a:xfrm>
          <a:prstGeom prst="rect">
            <a:avLst/>
          </a:prstGeom>
          <a:noFill/>
          <a:ln/>
        </p:spPr>
        <p:txBody>
          <a:bodyPr wrap="square" lIns="0" tIns="0" rIns="0" bIns="0" rtlCol="0" anchor="ctr"/>
          <a:lstStyle/>
          <a:p>
            <a:pPr algn="ctr" indent="0" marL="0">
              <a:buNone/>
            </a:pPr>
            <a:r>
              <a:rPr lang="en-US" sz="2200" b="1" dirty="0">
                <a:solidFill>
                  <a:srgbClr val="7B5AC4"/>
                </a:solidFill>
                <a:latin typeface="Cambria" pitchFamily="34" charset="0"/>
                <a:ea typeface="Cambria" pitchFamily="34" charset="-122"/>
                <a:cs typeface="Cambria" pitchFamily="34" charset="-120"/>
              </a:rPr>
              <a:t>→</a:t>
            </a:r>
            <a:endParaRPr lang="en-US" sz="2200" dirty="0"/>
          </a:p>
        </p:txBody>
      </p:sp>
      <p:sp>
        <p:nvSpPr>
          <p:cNvPr id="9" name="Shape 7"/>
          <p:cNvSpPr/>
          <p:nvPr/>
        </p:nvSpPr>
        <p:spPr>
          <a:xfrm>
            <a:off x="4261104" y="1371600"/>
            <a:ext cx="3611880" cy="1371600"/>
          </a:xfrm>
          <a:prstGeom prst="roundRect">
            <a:avLst>
              <a:gd name="adj" fmla="val 6667"/>
            </a:avLst>
          </a:prstGeom>
          <a:solidFill>
            <a:srgbClr val="4B2E93"/>
          </a:solidFill>
          <a:ln/>
        </p:spPr>
      </p:sp>
      <p:sp>
        <p:nvSpPr>
          <p:cNvPr id="10" name="Text 8"/>
          <p:cNvSpPr/>
          <p:nvPr/>
        </p:nvSpPr>
        <p:spPr>
          <a:xfrm>
            <a:off x="4489704" y="1508760"/>
            <a:ext cx="3154680" cy="365760"/>
          </a:xfrm>
          <a:prstGeom prst="rect">
            <a:avLst/>
          </a:prstGeom>
          <a:noFill/>
          <a:ln/>
        </p:spPr>
        <p:txBody>
          <a:bodyPr wrap="square" lIns="0" tIns="0" rIns="0" bIns="0" rtlCol="0" anchor="ctr"/>
          <a:lstStyle/>
          <a:p>
            <a:pPr indent="0" marL="0">
              <a:buNone/>
            </a:pPr>
            <a:r>
              <a:rPr lang="en-US" sz="1600" b="1" dirty="0">
                <a:solidFill>
                  <a:srgbClr val="00D2A0"/>
                </a:solidFill>
                <a:latin typeface="Cambria" pitchFamily="34" charset="0"/>
                <a:ea typeface="Cambria" pitchFamily="34" charset="-122"/>
                <a:cs typeface="Cambria" pitchFamily="34" charset="-120"/>
              </a:rPr>
              <a:t>TRANSFORM</a:t>
            </a:r>
            <a:endParaRPr lang="en-US" sz="1600" dirty="0"/>
          </a:p>
        </p:txBody>
      </p:sp>
      <p:sp>
        <p:nvSpPr>
          <p:cNvPr id="11" name="Text 9"/>
          <p:cNvSpPr/>
          <p:nvPr/>
        </p:nvSpPr>
        <p:spPr>
          <a:xfrm>
            <a:off x="4489704" y="1874520"/>
            <a:ext cx="3154680" cy="822960"/>
          </a:xfrm>
          <a:prstGeom prst="rect">
            <a:avLst/>
          </a:prstGeom>
          <a:noFill/>
          <a:ln/>
        </p:spPr>
        <p:txBody>
          <a:bodyPr wrap="square" lIns="0" tIns="0" rIns="0" bIns="0" rtlCol="0" anchor="ctr"/>
          <a:lstStyle/>
          <a:p>
            <a:pPr indent="0" marL="0">
              <a:buNone/>
            </a:pPr>
            <a:r>
              <a:rPr lang="en-US" sz="1100" dirty="0">
                <a:solidFill>
                  <a:srgbClr val="EAE3F8"/>
                </a:solidFill>
                <a:latin typeface="Calibri" pitchFamily="34" charset="0"/>
                <a:ea typeface="Calibri" pitchFamily="34" charset="-122"/>
                <a:cs typeface="Calibri" pitchFamily="34" charset="-120"/>
              </a:rPr>
              <a:t>Clean, integrate, validate, calculate KPIs, and generate aggregations.</a:t>
            </a:r>
            <a:endParaRPr lang="en-US" sz="1100" dirty="0"/>
          </a:p>
        </p:txBody>
      </p:sp>
      <p:sp>
        <p:nvSpPr>
          <p:cNvPr id="12" name="Text 10"/>
          <p:cNvSpPr/>
          <p:nvPr/>
        </p:nvSpPr>
        <p:spPr>
          <a:xfrm>
            <a:off x="7872984" y="1737360"/>
            <a:ext cx="192024" cy="731520"/>
          </a:xfrm>
          <a:prstGeom prst="rect">
            <a:avLst/>
          </a:prstGeom>
          <a:noFill/>
          <a:ln/>
        </p:spPr>
        <p:txBody>
          <a:bodyPr wrap="square" lIns="0" tIns="0" rIns="0" bIns="0" rtlCol="0" anchor="ctr"/>
          <a:lstStyle/>
          <a:p>
            <a:pPr algn="ctr" indent="0" marL="0">
              <a:buNone/>
            </a:pPr>
            <a:r>
              <a:rPr lang="en-US" sz="2200" b="1" dirty="0">
                <a:solidFill>
                  <a:srgbClr val="7B5AC4"/>
                </a:solidFill>
                <a:latin typeface="Cambria" pitchFamily="34" charset="0"/>
                <a:ea typeface="Cambria" pitchFamily="34" charset="-122"/>
                <a:cs typeface="Cambria" pitchFamily="34" charset="-120"/>
              </a:rPr>
              <a:t>→</a:t>
            </a:r>
            <a:endParaRPr lang="en-US" sz="2200" dirty="0"/>
          </a:p>
        </p:txBody>
      </p:sp>
      <p:sp>
        <p:nvSpPr>
          <p:cNvPr id="13" name="Shape 11"/>
          <p:cNvSpPr/>
          <p:nvPr/>
        </p:nvSpPr>
        <p:spPr>
          <a:xfrm>
            <a:off x="8065008" y="1371600"/>
            <a:ext cx="3611880" cy="1371600"/>
          </a:xfrm>
          <a:prstGeom prst="roundRect">
            <a:avLst>
              <a:gd name="adj" fmla="val 6667"/>
            </a:avLst>
          </a:prstGeom>
          <a:solidFill>
            <a:srgbClr val="4B2E93"/>
          </a:solidFill>
          <a:ln/>
        </p:spPr>
      </p:sp>
      <p:sp>
        <p:nvSpPr>
          <p:cNvPr id="14" name="Text 12"/>
          <p:cNvSpPr/>
          <p:nvPr/>
        </p:nvSpPr>
        <p:spPr>
          <a:xfrm>
            <a:off x="8293608" y="1508760"/>
            <a:ext cx="3154680" cy="365760"/>
          </a:xfrm>
          <a:prstGeom prst="rect">
            <a:avLst/>
          </a:prstGeom>
          <a:noFill/>
          <a:ln/>
        </p:spPr>
        <p:txBody>
          <a:bodyPr wrap="square" lIns="0" tIns="0" rIns="0" bIns="0" rtlCol="0" anchor="ctr"/>
          <a:lstStyle/>
          <a:p>
            <a:pPr indent="0" marL="0">
              <a:buNone/>
            </a:pPr>
            <a:r>
              <a:rPr lang="en-US" sz="1600" b="1" dirty="0">
                <a:solidFill>
                  <a:srgbClr val="00D2A0"/>
                </a:solidFill>
                <a:latin typeface="Cambria" pitchFamily="34" charset="0"/>
                <a:ea typeface="Cambria" pitchFamily="34" charset="-122"/>
                <a:cs typeface="Cambria" pitchFamily="34" charset="-120"/>
              </a:rPr>
              <a:t>LOAD</a:t>
            </a:r>
            <a:endParaRPr lang="en-US" sz="1600" dirty="0"/>
          </a:p>
        </p:txBody>
      </p:sp>
      <p:sp>
        <p:nvSpPr>
          <p:cNvPr id="15" name="Text 13"/>
          <p:cNvSpPr/>
          <p:nvPr/>
        </p:nvSpPr>
        <p:spPr>
          <a:xfrm>
            <a:off x="8293608" y="1874520"/>
            <a:ext cx="3154680" cy="822960"/>
          </a:xfrm>
          <a:prstGeom prst="rect">
            <a:avLst/>
          </a:prstGeom>
          <a:noFill/>
          <a:ln/>
        </p:spPr>
        <p:txBody>
          <a:bodyPr wrap="square" lIns="0" tIns="0" rIns="0" bIns="0" rtlCol="0" anchor="ctr"/>
          <a:lstStyle/>
          <a:p>
            <a:pPr indent="0" marL="0">
              <a:buNone/>
            </a:pPr>
            <a:r>
              <a:rPr lang="en-US" sz="1100" dirty="0">
                <a:solidFill>
                  <a:srgbClr val="EAE3F8"/>
                </a:solidFill>
                <a:latin typeface="Calibri" pitchFamily="34" charset="0"/>
                <a:ea typeface="Calibri" pitchFamily="34" charset="-122"/>
                <a:cs typeface="Calibri" pitchFamily="34" charset="-120"/>
              </a:rPr>
              <a:t>Store the consolidated dataset that will feed the dashboard.</a:t>
            </a:r>
            <a:endParaRPr lang="en-US" sz="1100" dirty="0"/>
          </a:p>
        </p:txBody>
      </p:sp>
      <p:sp>
        <p:nvSpPr>
          <p:cNvPr id="16" name="Text 14"/>
          <p:cNvSpPr/>
          <p:nvPr/>
        </p:nvSpPr>
        <p:spPr>
          <a:xfrm>
            <a:off x="457200" y="2971800"/>
            <a:ext cx="10058400" cy="365760"/>
          </a:xfrm>
          <a:prstGeom prst="rect">
            <a:avLst/>
          </a:prstGeom>
          <a:noFill/>
          <a:ln/>
        </p:spPr>
        <p:txBody>
          <a:bodyPr wrap="square" lIns="0" tIns="0" rIns="0" bIns="0" rtlCol="0" anchor="ctr"/>
          <a:lstStyle/>
          <a:p>
            <a:pPr indent="0" marL="0">
              <a:buNone/>
            </a:pPr>
            <a:r>
              <a:rPr lang="en-US" sz="1500" b="1" dirty="0">
                <a:solidFill>
                  <a:srgbClr val="4B2E93"/>
                </a:solidFill>
                <a:latin typeface="Cambria" pitchFamily="34" charset="0"/>
                <a:ea typeface="Cambria" pitchFamily="34" charset="-122"/>
                <a:cs typeface="Cambria" pitchFamily="34" charset="-120"/>
              </a:rPr>
              <a:t>Example traceability: requirement → transformation → output</a:t>
            </a:r>
            <a:endParaRPr lang="en-US" sz="1500" dirty="0"/>
          </a:p>
        </p:txBody>
      </p:sp>
      <p:sp>
        <p:nvSpPr>
          <p:cNvPr id="17" name="Shape 15"/>
          <p:cNvSpPr/>
          <p:nvPr/>
        </p:nvSpPr>
        <p:spPr>
          <a:xfrm>
            <a:off x="457200" y="3429000"/>
            <a:ext cx="11274552" cy="365760"/>
          </a:xfrm>
          <a:prstGeom prst="roundRect">
            <a:avLst>
              <a:gd name="adj" fmla="val 15000"/>
            </a:avLst>
          </a:prstGeom>
          <a:solidFill>
            <a:srgbClr val="7B5AC4"/>
          </a:solidFill>
          <a:ln/>
        </p:spPr>
      </p:sp>
      <p:sp>
        <p:nvSpPr>
          <p:cNvPr id="18" name="Text 16"/>
          <p:cNvSpPr/>
          <p:nvPr/>
        </p:nvSpPr>
        <p:spPr>
          <a:xfrm>
            <a:off x="457200" y="3429000"/>
            <a:ext cx="269748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p>
        </p:txBody>
      </p:sp>
      <p:sp>
        <p:nvSpPr>
          <p:cNvPr id="19" name="Text 17"/>
          <p:cNvSpPr/>
          <p:nvPr/>
        </p:nvSpPr>
        <p:spPr>
          <a:xfrm>
            <a:off x="3246120" y="3429000"/>
            <a:ext cx="228600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p>
        </p:txBody>
      </p:sp>
      <p:sp>
        <p:nvSpPr>
          <p:cNvPr id="20" name="Text 18"/>
          <p:cNvSpPr/>
          <p:nvPr/>
        </p:nvSpPr>
        <p:spPr>
          <a:xfrm>
            <a:off x="5623560" y="3429000"/>
            <a:ext cx="329184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Transformation</a:t>
            </a:r>
            <a:endParaRPr lang="en-US" sz="1100" dirty="0"/>
          </a:p>
        </p:txBody>
      </p:sp>
      <p:sp>
        <p:nvSpPr>
          <p:cNvPr id="21" name="Text 19"/>
          <p:cNvSpPr/>
          <p:nvPr/>
        </p:nvSpPr>
        <p:spPr>
          <a:xfrm>
            <a:off x="9006840" y="3429000"/>
            <a:ext cx="2724912"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Expected Output</a:t>
            </a:r>
            <a:endParaRPr lang="en-US" sz="1100" dirty="0"/>
          </a:p>
        </p:txBody>
      </p:sp>
      <p:sp>
        <p:nvSpPr>
          <p:cNvPr id="22" name="Shape 20"/>
          <p:cNvSpPr/>
          <p:nvPr/>
        </p:nvSpPr>
        <p:spPr>
          <a:xfrm>
            <a:off x="457200" y="3794760"/>
            <a:ext cx="11274552" cy="868680"/>
          </a:xfrm>
          <a:prstGeom prst="rect">
            <a:avLst/>
          </a:prstGeom>
          <a:solidFill>
            <a:srgbClr val="FFFFFF"/>
          </a:solidFill>
          <a:ln/>
        </p:spPr>
      </p:sp>
      <p:sp>
        <p:nvSpPr>
          <p:cNvPr id="23" name="Text 21"/>
          <p:cNvSpPr/>
          <p:nvPr/>
        </p:nvSpPr>
        <p:spPr>
          <a:xfrm>
            <a:off x="457200" y="3794760"/>
            <a:ext cx="269748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Measure commercial goal compliance</a:t>
            </a:r>
            <a:endParaRPr lang="en-US" sz="1000" dirty="0"/>
          </a:p>
        </p:txBody>
      </p:sp>
      <p:sp>
        <p:nvSpPr>
          <p:cNvPr id="24" name="Text 22"/>
          <p:cNvSpPr/>
          <p:nvPr/>
        </p:nvSpPr>
        <p:spPr>
          <a:xfrm>
            <a:off x="3246120" y="3794760"/>
            <a:ext cx="228600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POS + Commercial Goals System</a:t>
            </a:r>
            <a:endParaRPr lang="en-US" sz="1000" dirty="0"/>
          </a:p>
        </p:txBody>
      </p:sp>
      <p:sp>
        <p:nvSpPr>
          <p:cNvPr id="25" name="Text 23"/>
          <p:cNvSpPr/>
          <p:nvPr/>
        </p:nvSpPr>
        <p:spPr>
          <a:xfrm>
            <a:off x="5623560" y="3794760"/>
            <a:ext cx="329184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Integrate actual sales with goals and calculate compliance %</a:t>
            </a:r>
            <a:endParaRPr lang="en-US" sz="1000" dirty="0"/>
          </a:p>
        </p:txBody>
      </p:sp>
      <p:sp>
        <p:nvSpPr>
          <p:cNvPr id="26" name="Text 24"/>
          <p:cNvSpPr/>
          <p:nvPr/>
        </p:nvSpPr>
        <p:spPr>
          <a:xfrm>
            <a:off x="9006840" y="3794760"/>
            <a:ext cx="2724912"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Goal compliance KPI by store and region</a:t>
            </a:r>
            <a:endParaRPr lang="en-US" sz="1000" dirty="0"/>
          </a:p>
        </p:txBody>
      </p:sp>
      <p:sp>
        <p:nvSpPr>
          <p:cNvPr id="27" name="Shape 25"/>
          <p:cNvSpPr/>
          <p:nvPr/>
        </p:nvSpPr>
        <p:spPr>
          <a:xfrm>
            <a:off x="457200" y="4663440"/>
            <a:ext cx="11274552" cy="868680"/>
          </a:xfrm>
          <a:prstGeom prst="rect">
            <a:avLst/>
          </a:prstGeom>
          <a:solidFill>
            <a:srgbClr val="EEE9F8"/>
          </a:solidFill>
          <a:ln/>
        </p:spPr>
      </p:sp>
      <p:sp>
        <p:nvSpPr>
          <p:cNvPr id="28" name="Text 26"/>
          <p:cNvSpPr/>
          <p:nvPr/>
        </p:nvSpPr>
        <p:spPr>
          <a:xfrm>
            <a:off x="457200" y="4663440"/>
            <a:ext cx="269748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Analyze promotion impact</a:t>
            </a:r>
            <a:endParaRPr lang="en-US" sz="1000" dirty="0"/>
          </a:p>
        </p:txBody>
      </p:sp>
      <p:sp>
        <p:nvSpPr>
          <p:cNvPr id="29" name="Text 27"/>
          <p:cNvSpPr/>
          <p:nvPr/>
        </p:nvSpPr>
        <p:spPr>
          <a:xfrm>
            <a:off x="3246120" y="4663440"/>
            <a:ext cx="228600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POS + Promotion System</a:t>
            </a:r>
            <a:endParaRPr lang="en-US" sz="1000" dirty="0"/>
          </a:p>
        </p:txBody>
      </p:sp>
      <p:sp>
        <p:nvSpPr>
          <p:cNvPr id="30" name="Text 28"/>
          <p:cNvSpPr/>
          <p:nvPr/>
        </p:nvSpPr>
        <p:spPr>
          <a:xfrm>
            <a:off x="5623560" y="4663440"/>
            <a:ext cx="329184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Relate promotions to product, store, and date; compare before/during/after</a:t>
            </a:r>
            <a:endParaRPr lang="en-US" sz="1000" dirty="0"/>
          </a:p>
        </p:txBody>
      </p:sp>
      <p:sp>
        <p:nvSpPr>
          <p:cNvPr id="31" name="Text 29"/>
          <p:cNvSpPr/>
          <p:nvPr/>
        </p:nvSpPr>
        <p:spPr>
          <a:xfrm>
            <a:off x="9006840" y="4663440"/>
            <a:ext cx="2724912"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Promotion impact indicators</a:t>
            </a:r>
            <a:endParaRPr lang="en-US" sz="1000" dirty="0"/>
          </a:p>
        </p:txBody>
      </p:sp>
      <p:sp>
        <p:nvSpPr>
          <p:cNvPr id="32" name="Shape 30"/>
          <p:cNvSpPr/>
          <p:nvPr/>
        </p:nvSpPr>
        <p:spPr>
          <a:xfrm>
            <a:off x="457200" y="5532120"/>
            <a:ext cx="11274552" cy="868680"/>
          </a:xfrm>
          <a:prstGeom prst="rect">
            <a:avLst/>
          </a:prstGeom>
          <a:solidFill>
            <a:srgbClr val="FFFFFF"/>
          </a:solidFill>
          <a:ln/>
        </p:spPr>
      </p:sp>
      <p:sp>
        <p:nvSpPr>
          <p:cNvPr id="33" name="Text 31"/>
          <p:cNvSpPr/>
          <p:nvPr/>
        </p:nvSpPr>
        <p:spPr>
          <a:xfrm>
            <a:off x="457200" y="5532120"/>
            <a:ext cx="269748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Enable report generation</a:t>
            </a:r>
            <a:endParaRPr lang="en-US" sz="1000" dirty="0"/>
          </a:p>
        </p:txBody>
      </p:sp>
      <p:sp>
        <p:nvSpPr>
          <p:cNvPr id="34" name="Text 32"/>
          <p:cNvSpPr/>
          <p:nvPr/>
        </p:nvSpPr>
        <p:spPr>
          <a:xfrm>
            <a:off x="3246120" y="5532120"/>
            <a:ext cx="228600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Consolidated ETL dataset</a:t>
            </a:r>
            <a:endParaRPr lang="en-US" sz="1000" dirty="0"/>
          </a:p>
        </p:txBody>
      </p:sp>
      <p:sp>
        <p:nvSpPr>
          <p:cNvPr id="35" name="Text 33"/>
          <p:cNvSpPr/>
          <p:nvPr/>
        </p:nvSpPr>
        <p:spPr>
          <a:xfrm>
            <a:off x="5623560" y="5532120"/>
            <a:ext cx="3291840"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Integrate all processed data and structure it for querying</a:t>
            </a:r>
            <a:endParaRPr lang="en-US" sz="1000" dirty="0"/>
          </a:p>
        </p:txBody>
      </p:sp>
      <p:sp>
        <p:nvSpPr>
          <p:cNvPr id="36" name="Text 34"/>
          <p:cNvSpPr/>
          <p:nvPr/>
        </p:nvSpPr>
        <p:spPr>
          <a:xfrm>
            <a:off x="9006840" y="5532120"/>
            <a:ext cx="2724912" cy="868680"/>
          </a:xfrm>
          <a:prstGeom prst="rect">
            <a:avLst/>
          </a:prstGeom>
          <a:noFill/>
          <a:ln/>
        </p:spPr>
        <p:txBody>
          <a:bodyPr wrap="square" lIns="0" tIns="0" rIns="0" bIns="0" rtlCol="0" anchor="ctr"/>
          <a:lstStyle/>
          <a:p>
            <a:pPr indent="0" marL="0">
              <a:buNone/>
            </a:pPr>
            <a:r>
              <a:rPr lang="en-US" sz="1000" dirty="0">
                <a:solidFill>
                  <a:srgbClr val="231942"/>
                </a:solidFill>
                <a:latin typeface="Calibri" pitchFamily="34" charset="0"/>
                <a:ea typeface="Calibri" pitchFamily="34" charset="-122"/>
                <a:cs typeface="Calibri" pitchFamily="34" charset="-120"/>
              </a:rPr>
              <a:t>Final dataset for dashboard and PDF/Excel reports</a:t>
            </a:r>
            <a:endParaRPr lang="en-US" sz="1000" dirty="0"/>
          </a:p>
        </p:txBody>
      </p:sp>
      <p:sp>
        <p:nvSpPr>
          <p:cNvPr id="37" name="Text 35"/>
          <p:cNvSpPr/>
          <p:nvPr/>
        </p:nvSpPr>
        <p:spPr>
          <a:xfrm>
            <a:off x="457200" y="6446520"/>
            <a:ext cx="6400800" cy="274320"/>
          </a:xfrm>
          <a:prstGeom prst="rect">
            <a:avLst/>
          </a:prstGeom>
          <a:noFill/>
          <a:ln/>
        </p:spPr>
        <p:txBody>
          <a:bodyPr wrap="square" lIns="0" tIns="0" rIns="0" bIns="0" rtlCol="0" anchor="ctr"/>
          <a:lstStyle/>
          <a:p>
            <a:pPr indent="0" marL="0">
              <a:buNone/>
            </a:pPr>
            <a:r>
              <a:rPr lang="en-US" sz="900" dirty="0">
                <a:solidFill>
                  <a:srgbClr val="685C82"/>
                </a:solidFill>
                <a:latin typeface="Calibri" pitchFamily="34" charset="0"/>
                <a:ea typeface="Calibri" pitchFamily="34" charset="-122"/>
                <a:cs typeface="Calibri" pitchFamily="34" charset="-120"/>
              </a:rPr>
              <a:t>ETL G01 · Lab 1A · Retail Sales Dashboard</a:t>
            </a:r>
            <a:endParaRPr lang="en-US" sz="900" dirty="0"/>
          </a:p>
        </p:txBody>
      </p:sp>
      <p:sp>
        <p:nvSpPr>
          <p:cNvPr id="38" name="Text 36"/>
          <p:cNvSpPr/>
          <p:nvPr/>
        </p:nvSpPr>
        <p:spPr>
          <a:xfrm>
            <a:off x="9902952" y="6446520"/>
            <a:ext cx="1828800" cy="274320"/>
          </a:xfrm>
          <a:prstGeom prst="rect">
            <a:avLst/>
          </a:prstGeom>
          <a:noFill/>
          <a:ln/>
        </p:spPr>
        <p:txBody>
          <a:bodyPr wrap="square" lIns="0" tIns="0" rIns="0" bIns="0" rtlCol="0" anchor="ctr"/>
          <a:lstStyle/>
          <a:p>
            <a:pPr algn="r" indent="0" marL="0">
              <a:buNone/>
            </a:pPr>
            <a:r>
              <a:rPr lang="en-US" sz="900" dirty="0">
                <a:solidFill>
                  <a:srgbClr val="685C82"/>
                </a:solidFill>
                <a:latin typeface="Calibri" pitchFamily="34" charset="0"/>
                <a:ea typeface="Calibri" pitchFamily="34" charset="-122"/>
                <a:cs typeface="Calibri" pitchFamily="34" charset="-120"/>
              </a:rPr>
              <a:t>11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236"/>
        </a:solidFill>
      </p:bgPr>
    </p:bg>
    <p:spTree>
      <p:nvGrpSpPr>
        <p:cNvPr id="1" name=""/>
        <p:cNvGrpSpPr/>
        <p:nvPr/>
      </p:nvGrpSpPr>
      <p:grpSpPr>
        <a:xfrm>
          <a:off x="0" y="0"/>
          <a:ext cx="0" cy="0"/>
          <a:chOff x="0" y="0"/>
          <a:chExt cx="0" cy="0"/>
        </a:xfrm>
      </p:grpSpPr>
      <p:sp>
        <p:nvSpPr>
          <p:cNvPr id="2" name="Shape 0"/>
          <p:cNvSpPr/>
          <p:nvPr/>
        </p:nvSpPr>
        <p:spPr>
          <a:xfrm>
            <a:off x="-2286000" y="-2286000"/>
            <a:ext cx="5486400" cy="5486400"/>
          </a:xfrm>
          <a:prstGeom prst="ellipse">
            <a:avLst/>
          </a:prstGeom>
          <a:solidFill>
            <a:srgbClr val="4B2E93">
              <a:alpha val="45000"/>
            </a:srgbClr>
          </a:solidFill>
          <a:ln/>
        </p:spPr>
      </p:sp>
      <p:sp>
        <p:nvSpPr>
          <p:cNvPr id="3" name="Shape 1"/>
          <p:cNvSpPr/>
          <p:nvPr/>
        </p:nvSpPr>
        <p:spPr>
          <a:xfrm>
            <a:off x="9601200" y="3657600"/>
            <a:ext cx="5029200" cy="5029200"/>
          </a:xfrm>
          <a:prstGeom prst="ellipse">
            <a:avLst/>
          </a:prstGeom>
          <a:solidFill>
            <a:srgbClr val="7B5AC4">
              <a:alpha val="40000"/>
            </a:srgbClr>
          </a:solidFill>
          <a:ln/>
        </p:spPr>
      </p:sp>
      <p:sp>
        <p:nvSpPr>
          <p:cNvPr id="4" name="Text 2"/>
          <p:cNvSpPr/>
          <p:nvPr/>
        </p:nvSpPr>
        <p:spPr>
          <a:xfrm>
            <a:off x="731520" y="822960"/>
            <a:ext cx="5486400" cy="457200"/>
          </a:xfrm>
          <a:prstGeom prst="rect">
            <a:avLst/>
          </a:prstGeom>
          <a:noFill/>
          <a:ln/>
        </p:spPr>
        <p:txBody>
          <a:bodyPr wrap="square" lIns="0" tIns="0" rIns="0" bIns="0" rtlCol="0" anchor="ctr"/>
          <a:lstStyle/>
          <a:p>
            <a:pPr indent="0" marL="0">
              <a:buNone/>
            </a:pPr>
            <a:r>
              <a:rPr lang="en-US" sz="1400" b="1" spc="200" kern="0" dirty="0">
                <a:solidFill>
                  <a:srgbClr val="00D2A0"/>
                </a:solidFill>
                <a:latin typeface="Calibri" pitchFamily="34" charset="0"/>
                <a:ea typeface="Calibri" pitchFamily="34" charset="-122"/>
                <a:cs typeface="Calibri" pitchFamily="34" charset="-120"/>
              </a:rPr>
              <a:t>Final Reflection</a:t>
            </a:r>
            <a:endParaRPr lang="en-US" sz="1400" dirty="0"/>
          </a:p>
        </p:txBody>
      </p:sp>
      <p:sp>
        <p:nvSpPr>
          <p:cNvPr id="5" name="Text 3"/>
          <p:cNvSpPr/>
          <p:nvPr/>
        </p:nvSpPr>
        <p:spPr>
          <a:xfrm>
            <a:off x="731520" y="1234440"/>
            <a:ext cx="10515600" cy="8229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Is building a dashboard the first step?</a:t>
            </a:r>
            <a:endParaRPr lang="en-US" sz="3000" dirty="0"/>
          </a:p>
        </p:txBody>
      </p:sp>
      <p:sp>
        <p:nvSpPr>
          <p:cNvPr id="6" name="Shape 4"/>
          <p:cNvSpPr/>
          <p:nvPr/>
        </p:nvSpPr>
        <p:spPr>
          <a:xfrm>
            <a:off x="731520" y="2286000"/>
            <a:ext cx="10698480" cy="3566160"/>
          </a:xfrm>
          <a:prstGeom prst="roundRect">
            <a:avLst>
              <a:gd name="adj" fmla="val 3077"/>
            </a:avLst>
          </a:prstGeom>
          <a:solidFill>
            <a:srgbClr val="2A1B54"/>
          </a:solidFill>
          <a:ln/>
        </p:spPr>
      </p:sp>
      <p:sp>
        <p:nvSpPr>
          <p:cNvPr id="7" name="Text 5"/>
          <p:cNvSpPr/>
          <p:nvPr/>
        </p:nvSpPr>
        <p:spPr>
          <a:xfrm>
            <a:off x="1051560" y="2560320"/>
            <a:ext cx="10058400" cy="1371600"/>
          </a:xfrm>
          <a:prstGeom prst="rect">
            <a:avLst/>
          </a:prstGeom>
          <a:noFill/>
          <a:ln/>
        </p:spPr>
        <p:txBody>
          <a:bodyPr wrap="square" lIns="0" tIns="0" rIns="0" bIns="0" rtlCol="0" anchor="ctr"/>
          <a:lstStyle/>
          <a:p>
            <a:pPr indent="0" marL="0">
              <a:lnSpc>
                <a:spcPct val="125000"/>
              </a:lnSpc>
              <a:buNone/>
            </a:pPr>
            <a:r>
              <a:rPr lang="en-US" sz="1400" b="1" dirty="0">
                <a:solidFill>
                  <a:srgbClr val="00D2A0"/>
                </a:solidFill>
                <a:latin typeface="Calibri" pitchFamily="34" charset="0"/>
                <a:ea typeface="Calibri" pitchFamily="34" charset="-122"/>
                <a:cs typeface="Calibri" pitchFamily="34" charset="-120"/>
              </a:rPr>
              <a:t>No. </a:t>
            </a:r>
            <a:pPr indent="0" marL="0">
              <a:lnSpc>
                <a:spcPct val="125000"/>
              </a:lnSpc>
              <a:buNone/>
            </a:pPr>
            <a:r>
              <a:rPr lang="en-US" sz="1400" dirty="0">
                <a:solidFill>
                  <a:srgbClr val="E7E1F5"/>
                </a:solidFill>
                <a:latin typeface="Calibri" pitchFamily="34" charset="0"/>
                <a:ea typeface="Calibri" pitchFamily="34" charset="-122"/>
                <a:cs typeface="Calibri" pitchFamily="34" charset="-120"/>
              </a:rPr>
              <a:t>Building the dashboard is actually one of the last visible steps, not the first. Before designing any table, chart, or wireframe, the team had to understand the business problem, identify the stakeholders, and translate their needs into objectives and analytical questions.</a:t>
            </a:r>
            <a:endParaRPr lang="en-US" sz="1400" dirty="0"/>
          </a:p>
        </p:txBody>
      </p:sp>
      <p:sp>
        <p:nvSpPr>
          <p:cNvPr id="8" name="Text 6"/>
          <p:cNvSpPr/>
          <p:nvPr/>
        </p:nvSpPr>
        <p:spPr>
          <a:xfrm>
            <a:off x="1051560" y="4023360"/>
            <a:ext cx="10058400" cy="1691640"/>
          </a:xfrm>
          <a:prstGeom prst="rect">
            <a:avLst/>
          </a:prstGeom>
          <a:noFill/>
          <a:ln/>
        </p:spPr>
        <p:txBody>
          <a:bodyPr wrap="square" lIns="0" tIns="0" rIns="0" bIns="0" rtlCol="0" anchor="ctr"/>
          <a:lstStyle/>
          <a:p>
            <a:pPr indent="0" marL="0">
              <a:lnSpc>
                <a:spcPct val="125000"/>
              </a:lnSpc>
              <a:buNone/>
            </a:pPr>
            <a:r>
              <a:rPr lang="en-US" sz="1400" dirty="0">
                <a:solidFill>
                  <a:srgbClr val="E7E1F5"/>
                </a:solidFill>
                <a:latin typeface="Calibri" pitchFamily="34" charset="0"/>
                <a:ea typeface="Calibri" pitchFamily="34" charset="-122"/>
                <a:cs typeface="Calibri" pitchFamily="34" charset="-120"/>
              </a:rPr>
              <a:t>That work showed there are multiple data sources (POS, Product Catalog, Store Catalog, Commercial Goals System, and Promotion System) that need to be integrated before any KPI can be trusted. The dashboard is the visible outcome of the process — the real first step is understanding the business and the data needed to solve it.</a:t>
            </a:r>
            <a:endParaRPr lang="en-US" sz="1400" dirty="0"/>
          </a:p>
        </p:txBody>
      </p:sp>
      <p:sp>
        <p:nvSpPr>
          <p:cNvPr id="9" name="Text 7"/>
          <p:cNvSpPr/>
          <p:nvPr/>
        </p:nvSpPr>
        <p:spPr>
          <a:xfrm>
            <a:off x="731520" y="6080760"/>
            <a:ext cx="7315200" cy="365760"/>
          </a:xfrm>
          <a:prstGeom prst="rect">
            <a:avLst/>
          </a:prstGeom>
          <a:noFill/>
          <a:ln/>
        </p:spPr>
        <p:txBody>
          <a:bodyPr wrap="square" lIns="0" tIns="0" rIns="0" bIns="0" rtlCol="0" anchor="ctr"/>
          <a:lstStyle/>
          <a:p>
            <a:pPr indent="0" marL="0">
              <a:buNone/>
            </a:pPr>
            <a:r>
              <a:rPr lang="en-US" sz="1300" i="1" dirty="0">
                <a:solidFill>
                  <a:srgbClr val="B8ACD8"/>
                </a:solidFill>
                <a:latin typeface="Calibri" pitchFamily="34" charset="0"/>
                <a:ea typeface="Calibri" pitchFamily="34" charset="-122"/>
                <a:cs typeface="Calibri" pitchFamily="34" charset="-120"/>
              </a:rPr>
              <a:t>Thank you — questions &amp; discussion</a:t>
            </a:r>
            <a:endParaRPr lang="en-US" sz="1300" dirty="0"/>
          </a:p>
        </p:txBody>
      </p:sp>
      <p:sp>
        <p:nvSpPr>
          <p:cNvPr id="10" name="Text 8"/>
          <p:cNvSpPr/>
          <p:nvPr/>
        </p:nvSpPr>
        <p:spPr>
          <a:xfrm>
            <a:off x="10360152" y="6309360"/>
            <a:ext cx="1371600" cy="274320"/>
          </a:xfrm>
          <a:prstGeom prst="rect">
            <a:avLst/>
          </a:prstGeom>
          <a:noFill/>
          <a:ln/>
        </p:spPr>
        <p:txBody>
          <a:bodyPr wrap="square" lIns="0" tIns="0" rIns="0" bIns="0" rtlCol="0" anchor="ctr"/>
          <a:lstStyle/>
          <a:p>
            <a:pPr algn="r" indent="0" marL="0">
              <a:buNone/>
            </a:pPr>
            <a:r>
              <a:rPr lang="en-US" sz="900" dirty="0">
                <a:solidFill>
                  <a:srgbClr val="B8ACD8"/>
                </a:solidFill>
                <a:latin typeface="Calibri" pitchFamily="34" charset="0"/>
                <a:ea typeface="Calibri" pitchFamily="34" charset="-122"/>
                <a:cs typeface="Calibri" pitchFamily="34" charset="-120"/>
              </a:rPr>
              <a:t>12 / 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2026-07-31T19:32:13Z</dcterms:created>
  <dcterms:modified xsi:type="dcterms:W3CDTF">2026-07-31T19:32:13Z</dcterms:modified>
</cp:coreProperties>
</file>